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c8f537c3df4f33" /><Relationship Type="http://schemas.openxmlformats.org/officeDocument/2006/relationships/extended-properties" Target="/docProps/app.xml" Id="R98901ff93b084eaa" /><Relationship Type="http://schemas.openxmlformats.org/officeDocument/2006/relationships/officeDocument" Target="/ppt/presentation.xml" Id="R79442a4ac8fd47ab" /></Relationships>
</file>

<file path=ppt/presentation.xml><?xml version="1.0" encoding="utf-8"?>
<p:presentation xmlns:p="http://schemas.openxmlformats.org/presentationml/2006/main">
  <p:sldMasterIdLst>
    <p:sldMasterId xmlns:r="http://schemas.openxmlformats.org/officeDocument/2006/relationships" id="2147483648" r:id="Raf866dc12ba64939"/>
  </p:sldMasterIdLst>
  <p:notesMasterIdLst>
    <p:notesMasterId xmlns:r="http://schemas.openxmlformats.org/officeDocument/2006/relationships" r:id="Rbd78fc4edb5b4f01"/>
  </p:notesMasterIdLst>
  <p:sldIdLst>
    <p:sldId xmlns:r="http://schemas.openxmlformats.org/officeDocument/2006/relationships" id="256" r:id="Ra009155720644f12"/>
    <p:sldId xmlns:r="http://schemas.openxmlformats.org/officeDocument/2006/relationships" id="257" r:id="R933ef6a43c4a4338"/>
    <p:sldId xmlns:r="http://schemas.openxmlformats.org/officeDocument/2006/relationships" id="258" r:id="Rcc8dc56b1e0b4f82"/>
    <p:sldId xmlns:r="http://schemas.openxmlformats.org/officeDocument/2006/relationships" id="259" r:id="R22184813bd464c7a"/>
    <p:sldId xmlns:r="http://schemas.openxmlformats.org/officeDocument/2006/relationships" id="260" r:id="Rf3960b0b214240e9"/>
    <p:sldId xmlns:r="http://schemas.openxmlformats.org/officeDocument/2006/relationships" id="261" r:id="Rd3d892629b2d415f"/>
    <p:sldId xmlns:r="http://schemas.openxmlformats.org/officeDocument/2006/relationships" id="262" r:id="Rae01b217ab2145f5"/>
    <p:sldId xmlns:r="http://schemas.openxmlformats.org/officeDocument/2006/relationships" id="263" r:id="R78b87c7c29a3482b"/>
    <p:sldId xmlns:r="http://schemas.openxmlformats.org/officeDocument/2006/relationships" id="264" r:id="Rc0a0fd01cf584cfe"/>
    <p:sldId xmlns:r="http://schemas.openxmlformats.org/officeDocument/2006/relationships" id="265" r:id="R0896f3b372514dd0"/>
    <p:sldId xmlns:r="http://schemas.openxmlformats.org/officeDocument/2006/relationships" id="266" r:id="Rf6ec87be752e43f6"/>
    <p:sldId xmlns:r="http://schemas.openxmlformats.org/officeDocument/2006/relationships" id="267" r:id="R4799fd19668d497b"/>
    <p:sldId xmlns:r="http://schemas.openxmlformats.org/officeDocument/2006/relationships" id="268" r:id="Rf7c5d4fbc8e345cd"/>
    <p:sldId xmlns:r="http://schemas.openxmlformats.org/officeDocument/2006/relationships" id="269" r:id="R4bb3e36a9d874517"/>
    <p:sldId xmlns:r="http://schemas.openxmlformats.org/officeDocument/2006/relationships" id="270" r:id="R35eb8d2ef92b4cfa"/>
    <p:sldId xmlns:r="http://schemas.openxmlformats.org/officeDocument/2006/relationships" id="271" r:id="R53b8ec5ceca94288"/>
    <p:sldId xmlns:r="http://schemas.openxmlformats.org/officeDocument/2006/relationships" id="272" r:id="R66945894872f4ce2"/>
    <p:sldId xmlns:r="http://schemas.openxmlformats.org/officeDocument/2006/relationships" id="273" r:id="Ra520d4df94e3461a"/>
    <p:sldId xmlns:r="http://schemas.openxmlformats.org/officeDocument/2006/relationships" id="274" r:id="Ra1ed74f36c904342"/>
    <p:sldId xmlns:r="http://schemas.openxmlformats.org/officeDocument/2006/relationships" id="275" r:id="R1c5b8b1bfded4a23"/>
    <p:sldId xmlns:r="http://schemas.openxmlformats.org/officeDocument/2006/relationships" id="276" r:id="R8eb519bd4d4340ae"/>
    <p:sldId xmlns:r="http://schemas.openxmlformats.org/officeDocument/2006/relationships" id="277" r:id="Rb2ec1ec34259441a"/>
    <p:sldId xmlns:r="http://schemas.openxmlformats.org/officeDocument/2006/relationships" id="278" r:id="R99ab781b2c3f4cef"/>
    <p:sldId xmlns:r="http://schemas.openxmlformats.org/officeDocument/2006/relationships" id="279" r:id="Rc841acb24dd94fe1"/>
    <p:sldId xmlns:r="http://schemas.openxmlformats.org/officeDocument/2006/relationships" id="280" r:id="R01a5530ba6a74189"/>
    <p:sldId xmlns:r="http://schemas.openxmlformats.org/officeDocument/2006/relationships" id="281" r:id="Rc60b077612004ae0"/>
    <p:sldId xmlns:r="http://schemas.openxmlformats.org/officeDocument/2006/relationships" id="282" r:id="R86daf429b8584b79"/>
    <p:sldId xmlns:r="http://schemas.openxmlformats.org/officeDocument/2006/relationships" id="283" r:id="Rdb973c109b5d4b58"/>
    <p:sldId xmlns:r="http://schemas.openxmlformats.org/officeDocument/2006/relationships" id="284" r:id="R3ff5631dcd8d4bb2"/>
    <p:sldId xmlns:r="http://schemas.openxmlformats.org/officeDocument/2006/relationships" id="285" r:id="R3f8889cf265b4f01"/>
    <p:sldId xmlns:r="http://schemas.openxmlformats.org/officeDocument/2006/relationships" id="286" r:id="R5f9508aa4507475f"/>
    <p:sldId xmlns:r="http://schemas.openxmlformats.org/officeDocument/2006/relationships" id="287" r:id="R05851f0fbed44aa3"/>
    <p:sldId xmlns:r="http://schemas.openxmlformats.org/officeDocument/2006/relationships" id="288" r:id="R3e8b3cf481514b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72ed51d37345c5" /><Relationship Type="http://schemas.openxmlformats.org/officeDocument/2006/relationships/slideMaster" Target="/ppt/slideMasters/slideMaster1.xml" Id="Raf866dc12ba64939" /><Relationship Type="http://schemas.openxmlformats.org/officeDocument/2006/relationships/notesMaster" Target="/ppt/notesMasters/notesMaster1.xml" Id="Rbd78fc4edb5b4f01" /><Relationship Type="http://schemas.openxmlformats.org/officeDocument/2006/relationships/presProps" Target="/ppt/presProps.xml" Id="R691d6ea8c94049a3" /><Relationship Type="http://schemas.openxmlformats.org/officeDocument/2006/relationships/tableStyles" Target="/ppt/tableStyles.xml" Id="R2510cf8610ed4ee2" /><Relationship Type="http://schemas.openxmlformats.org/officeDocument/2006/relationships/slide" Target="/ppt/slides/slide1.xml" Id="Ra009155720644f12" /><Relationship Type="http://schemas.openxmlformats.org/officeDocument/2006/relationships/slide" Target="/ppt/slides/slide2.xml" Id="R933ef6a43c4a4338" /><Relationship Type="http://schemas.openxmlformats.org/officeDocument/2006/relationships/slide" Target="/ppt/slides/slide3.xml" Id="Rcc8dc56b1e0b4f82" /><Relationship Type="http://schemas.openxmlformats.org/officeDocument/2006/relationships/slide" Target="/ppt/slides/slide4.xml" Id="R22184813bd464c7a" /><Relationship Type="http://schemas.openxmlformats.org/officeDocument/2006/relationships/slide" Target="/ppt/slides/slide5.xml" Id="Rf3960b0b214240e9" /><Relationship Type="http://schemas.openxmlformats.org/officeDocument/2006/relationships/slide" Target="/ppt/slides/slide6.xml" Id="Rd3d892629b2d415f" /><Relationship Type="http://schemas.openxmlformats.org/officeDocument/2006/relationships/slide" Target="/ppt/slides/slide7.xml" Id="Rae01b217ab2145f5" /><Relationship Type="http://schemas.openxmlformats.org/officeDocument/2006/relationships/slide" Target="/ppt/slides/slide8.xml" Id="R78b87c7c29a3482b" /><Relationship Type="http://schemas.openxmlformats.org/officeDocument/2006/relationships/slide" Target="/ppt/slides/slide9.xml" Id="Rc0a0fd01cf584cfe" /><Relationship Type="http://schemas.openxmlformats.org/officeDocument/2006/relationships/slide" Target="/ppt/slides/slide10.xml" Id="R0896f3b372514dd0" /><Relationship Type="http://schemas.openxmlformats.org/officeDocument/2006/relationships/slide" Target="/ppt/slides/slide11.xml" Id="Rf6ec87be752e43f6" /><Relationship Type="http://schemas.openxmlformats.org/officeDocument/2006/relationships/slide" Target="/ppt/slides/slide12.xml" Id="R4799fd19668d497b" /><Relationship Type="http://schemas.openxmlformats.org/officeDocument/2006/relationships/slide" Target="/ppt/slides/slide13.xml" Id="Rf7c5d4fbc8e345cd" /><Relationship Type="http://schemas.openxmlformats.org/officeDocument/2006/relationships/slide" Target="/ppt/slides/slide14.xml" Id="R4bb3e36a9d874517" /><Relationship Type="http://schemas.openxmlformats.org/officeDocument/2006/relationships/slide" Target="/ppt/slides/slide15.xml" Id="R35eb8d2ef92b4cfa" /><Relationship Type="http://schemas.openxmlformats.org/officeDocument/2006/relationships/slide" Target="/ppt/slides/slide16.xml" Id="R53b8ec5ceca94288" /><Relationship Type="http://schemas.openxmlformats.org/officeDocument/2006/relationships/slide" Target="/ppt/slides/slide17.xml" Id="R66945894872f4ce2" /><Relationship Type="http://schemas.openxmlformats.org/officeDocument/2006/relationships/slide" Target="/ppt/slides/slide18.xml" Id="Ra520d4df94e3461a" /><Relationship Type="http://schemas.openxmlformats.org/officeDocument/2006/relationships/slide" Target="/ppt/slides/slide19.xml" Id="Ra1ed74f36c904342" /><Relationship Type="http://schemas.openxmlformats.org/officeDocument/2006/relationships/slide" Target="/ppt/slides/slide20.xml" Id="R1c5b8b1bfded4a23" /><Relationship Type="http://schemas.openxmlformats.org/officeDocument/2006/relationships/slide" Target="/ppt/slides/slide21.xml" Id="R8eb519bd4d4340ae" /><Relationship Type="http://schemas.openxmlformats.org/officeDocument/2006/relationships/slide" Target="/ppt/slides/slide22.xml" Id="Rb2ec1ec34259441a" /><Relationship Type="http://schemas.openxmlformats.org/officeDocument/2006/relationships/slide" Target="/ppt/slides/slide23.xml" Id="R99ab781b2c3f4cef" /><Relationship Type="http://schemas.openxmlformats.org/officeDocument/2006/relationships/slide" Target="/ppt/slides/slide24.xml" Id="Rc841acb24dd94fe1" /><Relationship Type="http://schemas.openxmlformats.org/officeDocument/2006/relationships/slide" Target="/ppt/slides/slide25.xml" Id="R01a5530ba6a74189" /><Relationship Type="http://schemas.openxmlformats.org/officeDocument/2006/relationships/slide" Target="/ppt/slides/slide26.xml" Id="Rc60b077612004ae0" /><Relationship Type="http://schemas.openxmlformats.org/officeDocument/2006/relationships/slide" Target="/ppt/slides/slide27.xml" Id="R86daf429b8584b79" /><Relationship Type="http://schemas.openxmlformats.org/officeDocument/2006/relationships/slide" Target="/ppt/slides/slide28.xml" Id="Rdb973c109b5d4b58" /><Relationship Type="http://schemas.openxmlformats.org/officeDocument/2006/relationships/slide" Target="/ppt/slides/slide29.xml" Id="R3ff5631dcd8d4bb2" /><Relationship Type="http://schemas.openxmlformats.org/officeDocument/2006/relationships/slide" Target="/ppt/slides/slide30.xml" Id="R3f8889cf265b4f01" /><Relationship Type="http://schemas.openxmlformats.org/officeDocument/2006/relationships/slide" Target="/ppt/slides/slide31.xml" Id="R5f9508aa4507475f" /><Relationship Type="http://schemas.openxmlformats.org/officeDocument/2006/relationships/slide" Target="/ppt/slides/slide32.xml" Id="R05851f0fbed44aa3" /><Relationship Type="http://schemas.openxmlformats.org/officeDocument/2006/relationships/slide" Target="/ppt/slides/slide33.xml" Id="R3e8b3cf481514b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6fd61d216c45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e66665f1094f3c" /><Relationship Type="http://schemas.openxmlformats.org/officeDocument/2006/relationships/notesMaster" Target="/ppt/notesMasters/notesMaster1.xml" Id="Raee54a6f9fb046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75ab4500d74763" /><Relationship Type="http://schemas.openxmlformats.org/officeDocument/2006/relationships/notesMaster" Target="/ppt/notesMasters/notesMaster1.xml" Id="R9eeb6fb1966d4a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6514cef29c4431" /><Relationship Type="http://schemas.openxmlformats.org/officeDocument/2006/relationships/notesMaster" Target="/ppt/notesMasters/notesMaster1.xml" Id="R2a8963ddbb474a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27b1bd17944ce2" /><Relationship Type="http://schemas.openxmlformats.org/officeDocument/2006/relationships/notesMaster" Target="/ppt/notesMasters/notesMaster1.xml" Id="Rd17f8096003347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6ab60454f2473d" /><Relationship Type="http://schemas.openxmlformats.org/officeDocument/2006/relationships/notesMaster" Target="/ppt/notesMasters/notesMaster1.xml" Id="R9c4eb14408a347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0b8f56f19d43e1" /><Relationship Type="http://schemas.openxmlformats.org/officeDocument/2006/relationships/notesMaster" Target="/ppt/notesMasters/notesMaster1.xml" Id="R48f7184560a145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9630cb35a24718" /><Relationship Type="http://schemas.openxmlformats.org/officeDocument/2006/relationships/notesMaster" Target="/ppt/notesMasters/notesMaster1.xml" Id="Rc23a84b5a6a64d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cbfa6e6c624783" /><Relationship Type="http://schemas.openxmlformats.org/officeDocument/2006/relationships/notesMaster" Target="/ppt/notesMasters/notesMaster1.xml" Id="R80a8f11db2784c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19e3689ff24131" /><Relationship Type="http://schemas.openxmlformats.org/officeDocument/2006/relationships/notesMaster" Target="/ppt/notesMasters/notesMaster1.xml" Id="R0748ea8c62ea4b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547e9dfd49483e" /><Relationship Type="http://schemas.openxmlformats.org/officeDocument/2006/relationships/notesMaster" Target="/ppt/notesMasters/notesMaster1.xml" Id="R18e95f28e1b64a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5901962e6c04d5a" /><Relationship Type="http://schemas.openxmlformats.org/officeDocument/2006/relationships/notesMaster" Target="/ppt/notesMasters/notesMaster1.xml" Id="R0ea44944c3ca41e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f13b2c2b9048e3" /><Relationship Type="http://schemas.openxmlformats.org/officeDocument/2006/relationships/notesMaster" Target="/ppt/notesMasters/notesMaster1.xml" Id="R5ad8cb1e8db042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c9c65372de4d35" /><Relationship Type="http://schemas.openxmlformats.org/officeDocument/2006/relationships/notesMaster" Target="/ppt/notesMasters/notesMaster1.xml" Id="Rae0a69a67b944bf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9c50201ef54a6a" /><Relationship Type="http://schemas.openxmlformats.org/officeDocument/2006/relationships/notesMaster" Target="/ppt/notesMasters/notesMaster1.xml" Id="R0e3c3ae38b434b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4cf6a7dc2d4aff" /><Relationship Type="http://schemas.openxmlformats.org/officeDocument/2006/relationships/notesMaster" Target="/ppt/notesMasters/notesMaster1.xml" Id="Rc26e8c4711364d5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052d78435f34e31" /><Relationship Type="http://schemas.openxmlformats.org/officeDocument/2006/relationships/notesMaster" Target="/ppt/notesMasters/notesMaster1.xml" Id="R1b5b56cf7d794c4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58d1c1e459046d2" /><Relationship Type="http://schemas.openxmlformats.org/officeDocument/2006/relationships/notesMaster" Target="/ppt/notesMasters/notesMaster1.xml" Id="Rb0c49cdf1772458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d0c84e29644803" /><Relationship Type="http://schemas.openxmlformats.org/officeDocument/2006/relationships/notesMaster" Target="/ppt/notesMasters/notesMaster1.xml" Id="R565c7d76f94447b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5e8a33e6d0a4a1d" /><Relationship Type="http://schemas.openxmlformats.org/officeDocument/2006/relationships/notesMaster" Target="/ppt/notesMasters/notesMaster1.xml" Id="Ra66ad4179984463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a4211e7beaf4cfb" /><Relationship Type="http://schemas.openxmlformats.org/officeDocument/2006/relationships/notesMaster" Target="/ppt/notesMasters/notesMaster1.xml" Id="R2b320ea469034c0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84865766bef4e16" /><Relationship Type="http://schemas.openxmlformats.org/officeDocument/2006/relationships/notesMaster" Target="/ppt/notesMasters/notesMaster1.xml" Id="R4e1ea525e3d9420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2c0f59a87e64c71" /><Relationship Type="http://schemas.openxmlformats.org/officeDocument/2006/relationships/notesMaster" Target="/ppt/notesMasters/notesMaster1.xml" Id="R4e358179b23b47d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d386bfffc794309" /><Relationship Type="http://schemas.openxmlformats.org/officeDocument/2006/relationships/notesMaster" Target="/ppt/notesMasters/notesMaster1.xml" Id="Rd333af9185474e2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f4713dddae746d7" /><Relationship Type="http://schemas.openxmlformats.org/officeDocument/2006/relationships/notesMaster" Target="/ppt/notesMasters/notesMaster1.xml" Id="R92b9efaaa41e411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17051c9440a4321" /><Relationship Type="http://schemas.openxmlformats.org/officeDocument/2006/relationships/notesMaster" Target="/ppt/notesMasters/notesMaster1.xml" Id="R818c04a60d9e4a2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dd83392881c473c" /><Relationship Type="http://schemas.openxmlformats.org/officeDocument/2006/relationships/notesMaster" Target="/ppt/notesMasters/notesMaster1.xml" Id="Rf28d1cccbbb146b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dc03db5446f4b85" /><Relationship Type="http://schemas.openxmlformats.org/officeDocument/2006/relationships/notesMaster" Target="/ppt/notesMasters/notesMaster1.xml" Id="Rda0da3a4a03c465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0fd8db6428641f1" /><Relationship Type="http://schemas.openxmlformats.org/officeDocument/2006/relationships/notesMaster" Target="/ppt/notesMasters/notesMaster1.xml" Id="Rc6af4a6c3e91405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2873613d25541ac" /><Relationship Type="http://schemas.openxmlformats.org/officeDocument/2006/relationships/notesMaster" Target="/ppt/notesMasters/notesMaster1.xml" Id="R86c9b16fc689472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fd0a93aae5d4a98" /><Relationship Type="http://schemas.openxmlformats.org/officeDocument/2006/relationships/notesMaster" Target="/ppt/notesMasters/notesMaster1.xml" Id="R392899189c4545a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cc6d6ef5a324199" /><Relationship Type="http://schemas.openxmlformats.org/officeDocument/2006/relationships/notesMaster" Target="/ppt/notesMasters/notesMaster1.xml" Id="Re0259e0d71d24a6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b1e992770814dbd" /><Relationship Type="http://schemas.openxmlformats.org/officeDocument/2006/relationships/notesMaster" Target="/ppt/notesMasters/notesMaster1.xml" Id="Re4344eadbd774e9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ba8294c7dde425b" /><Relationship Type="http://schemas.openxmlformats.org/officeDocument/2006/relationships/notesMaster" Target="/ppt/notesMasters/notesMaster1.xml" Id="R2fa1153a8ab54a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60eae864f040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70358ed7d7c4e7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7e0d1ed8f140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b9f247da2946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051cc4679d431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86da0261a546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CADAD7-5367-4B6D-A5B2-C371170696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A95478-7889-4EC0-932B-D4383DEEDEC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89F90AD-A522-4158-8FB5-7AC11F92C89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EFCD3B-C68E-40F0-8C23-60AC0EC318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A57D9F2-CD90-457C-A795-CF5E43E5C92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3A790AB-B192-4973-B548-35DB879E00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807643-77B4-470D-A7D1-BC3D7F7E88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CE5311-EBBE-4A59-A0F2-03FF2EB386B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EFB6DA-73A5-4F8E-8AFC-9D94D530E7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8DC291-0B8C-46F8-BCF9-3C36A5B10A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aa466cfca941a6" /><Relationship Type="http://schemas.openxmlformats.org/officeDocument/2006/relationships/slideLayout" Target="/ppt/slideLayouts/slideLayout1.xml" Id="Red01eee3bf9c49f8" /><Relationship Type="http://schemas.openxmlformats.org/officeDocument/2006/relationships/slideLayout" Target="/ppt/slideLayouts/slideLayout2.xml" Id="Rd7b4d4652dbf4d5e" /><Relationship Type="http://schemas.openxmlformats.org/officeDocument/2006/relationships/slideLayout" Target="/ppt/slideLayouts/slideLayout3.xml" Id="Ra285272890324ed7" /><Relationship Type="http://schemas.openxmlformats.org/officeDocument/2006/relationships/slideLayout" Target="/ppt/slideLayouts/slideLayout4.xml" Id="R4656fa2110ca40e1" /><Relationship Type="http://schemas.openxmlformats.org/officeDocument/2006/relationships/slideLayout" Target="/ppt/slideLayouts/slideLayout5.xml" Id="Rfbff33496aac4227" /><Relationship Type="http://schemas.openxmlformats.org/officeDocument/2006/relationships/slideLayout" Target="/ppt/slideLayouts/slideLayout6.xml" Id="Rc6a5e0c34a6843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01eee3bf9c49f8"/>
    <p:sldLayoutId xmlns:r="http://schemas.openxmlformats.org/officeDocument/2006/relationships" id="2147483650" r:id="Rd7b4d4652dbf4d5e"/>
    <p:sldLayoutId xmlns:r="http://schemas.openxmlformats.org/officeDocument/2006/relationships" id="2147483651" r:id="Ra285272890324ed7"/>
    <p:sldLayoutId xmlns:r="http://schemas.openxmlformats.org/officeDocument/2006/relationships" id="2147483652" r:id="R4656fa2110ca40e1"/>
    <p:sldLayoutId xmlns:r="http://schemas.openxmlformats.org/officeDocument/2006/relationships" id="2147483653" r:id="Rfbff33496aac4227"/>
    <p:sldLayoutId xmlns:r="http://schemas.openxmlformats.org/officeDocument/2006/relationships" id="2147483654" r:id="Rc6a5e0c34a6843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a3b6c23fe64ffd" /><Relationship Type="http://schemas.openxmlformats.org/officeDocument/2006/relationships/image" Target="/ppt/media/image.png" Id="Rb466c0722cbe4b43" /><Relationship Type="http://schemas.openxmlformats.org/officeDocument/2006/relationships/notesSlide" Target="/ppt/notesSlides/notesSlide1.xml" Id="Raacad665b32749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a4d6c637dd47c0" /><Relationship Type="http://schemas.openxmlformats.org/officeDocument/2006/relationships/image" Target="/ppt/media/image2.png" Id="Rb0bd64baec464107" /><Relationship Type="http://schemas.openxmlformats.org/officeDocument/2006/relationships/notesSlide" Target="/ppt/notesSlides/notesSlide2.xml" Id="R1adb6db85b6a4e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89edeb0354f4a2b" /><Relationship Type="http://schemas.openxmlformats.org/officeDocument/2006/relationships/image" Target="/ppt/media/image3.png" Id="R7e961b6fd1544cfc" /><Relationship Type="http://schemas.openxmlformats.org/officeDocument/2006/relationships/notesSlide" Target="/ppt/notesSlides/notesSlide3.xml" Id="R37b11968b9cb4d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8bcf97f350b4492" /><Relationship Type="http://schemas.openxmlformats.org/officeDocument/2006/relationships/image" Target="/ppt/media/image4.png" Id="R362823905c9d4acb" /><Relationship Type="http://schemas.openxmlformats.org/officeDocument/2006/relationships/notesSlide" Target="/ppt/notesSlides/notesSlide4.xml" Id="R498fe2b001824a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6f5f2f49844bc3" /><Relationship Type="http://schemas.openxmlformats.org/officeDocument/2006/relationships/image" Target="/ppt/media/image5.png" Id="Ra76d8f22d1134ea4" /><Relationship Type="http://schemas.openxmlformats.org/officeDocument/2006/relationships/notesSlide" Target="/ppt/notesSlides/notesSlide5.xml" Id="R629827eefcfe46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bf0e58cfb44543" /><Relationship Type="http://schemas.openxmlformats.org/officeDocument/2006/relationships/image" Target="/ppt/media/image6.png" Id="R612acdd4b3b84c70" /><Relationship Type="http://schemas.openxmlformats.org/officeDocument/2006/relationships/notesSlide" Target="/ppt/notesSlides/notesSlide6.xml" Id="R2c666e457b344a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f1f752236124290" /><Relationship Type="http://schemas.openxmlformats.org/officeDocument/2006/relationships/image" Target="/ppt/media/image7.png" Id="R70e0f178c2d54a90" /><Relationship Type="http://schemas.openxmlformats.org/officeDocument/2006/relationships/notesSlide" Target="/ppt/notesSlides/notesSlide7.xml" Id="Rfb36d88038ea41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76503d2961a4f1a" /><Relationship Type="http://schemas.openxmlformats.org/officeDocument/2006/relationships/image" Target="/ppt/media/image8.png" Id="R00faa439856c4cce" /><Relationship Type="http://schemas.openxmlformats.org/officeDocument/2006/relationships/notesSlide" Target="/ppt/notesSlides/notesSlide8.xml" Id="R6123ba7c49ff42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d0ac3f6ed454986" /><Relationship Type="http://schemas.openxmlformats.org/officeDocument/2006/relationships/image" Target="/ppt/media/image9.png" Id="R67d123e5cbff4342" /><Relationship Type="http://schemas.openxmlformats.org/officeDocument/2006/relationships/notesSlide" Target="/ppt/notesSlides/notesSlide9.xml" Id="Rf3e0aef319e140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1987507f36a4b56" /><Relationship Type="http://schemas.openxmlformats.org/officeDocument/2006/relationships/image" Target="/ppt/media/image10.png" Id="Rff531520b2fa46d6" /><Relationship Type="http://schemas.openxmlformats.org/officeDocument/2006/relationships/notesSlide" Target="/ppt/notesSlides/notesSlide10.xml" Id="Re3d3396da74144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91d4a9c19f148cc" /><Relationship Type="http://schemas.openxmlformats.org/officeDocument/2006/relationships/image" Target="/ppt/media/image11.png" Id="Ra6d3963378064b91" /><Relationship Type="http://schemas.openxmlformats.org/officeDocument/2006/relationships/notesSlide" Target="/ppt/notesSlides/notesSlide11.xml" Id="Rb709cac04c1549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80872576af841f7" /><Relationship Type="http://schemas.openxmlformats.org/officeDocument/2006/relationships/image" Target="/ppt/media/image12.png" Id="R13bfc1c907224336" /><Relationship Type="http://schemas.openxmlformats.org/officeDocument/2006/relationships/notesSlide" Target="/ppt/notesSlides/notesSlide12.xml" Id="R50214f69c16440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0795ac5145e4cb6" /><Relationship Type="http://schemas.openxmlformats.org/officeDocument/2006/relationships/image" Target="/ppt/media/image13.png" Id="R44682124737a4117" /><Relationship Type="http://schemas.openxmlformats.org/officeDocument/2006/relationships/notesSlide" Target="/ppt/notesSlides/notesSlide13.xml" Id="R8d74d9b5ac2049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47cc1ccd6124173" /><Relationship Type="http://schemas.openxmlformats.org/officeDocument/2006/relationships/image" Target="/ppt/media/image14.png" Id="Re0025caf929b434f" /><Relationship Type="http://schemas.openxmlformats.org/officeDocument/2006/relationships/notesSlide" Target="/ppt/notesSlides/notesSlide14.xml" Id="Rf34104e0c2b6442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24fbbdc761146b7" /><Relationship Type="http://schemas.openxmlformats.org/officeDocument/2006/relationships/image" Target="/ppt/media/image15.png" Id="R84f84caf499f4452" /><Relationship Type="http://schemas.openxmlformats.org/officeDocument/2006/relationships/notesSlide" Target="/ppt/notesSlides/notesSlide15.xml" Id="R6ab08ca215a947c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e2ba99ad154e7c" /><Relationship Type="http://schemas.openxmlformats.org/officeDocument/2006/relationships/image" Target="/ppt/media/image16.png" Id="R1c85b4493f3740f2" /><Relationship Type="http://schemas.openxmlformats.org/officeDocument/2006/relationships/notesSlide" Target="/ppt/notesSlides/notesSlide16.xml" Id="Re8d95aaff7894b8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8ae06346dce4a45" /><Relationship Type="http://schemas.openxmlformats.org/officeDocument/2006/relationships/image" Target="/ppt/media/image17.png" Id="Rd7a8fbf248f844b5" /><Relationship Type="http://schemas.openxmlformats.org/officeDocument/2006/relationships/notesSlide" Target="/ppt/notesSlides/notesSlide17.xml" Id="Rf20f09227f4245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91964b1857c49ea" /><Relationship Type="http://schemas.openxmlformats.org/officeDocument/2006/relationships/image" Target="/ppt/media/image18.png" Id="R8ee1005e39924b2e" /><Relationship Type="http://schemas.openxmlformats.org/officeDocument/2006/relationships/notesSlide" Target="/ppt/notesSlides/notesSlide18.xml" Id="R13ac482f08e6428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af25022cbfe4494" /><Relationship Type="http://schemas.openxmlformats.org/officeDocument/2006/relationships/image" Target="/ppt/media/image19.png" Id="Ra6b5a6a71bb74b21" /><Relationship Type="http://schemas.openxmlformats.org/officeDocument/2006/relationships/notesSlide" Target="/ppt/notesSlides/notesSlide19.xml" Id="R2f9ce0a0f071400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ce68620a4734717" /><Relationship Type="http://schemas.openxmlformats.org/officeDocument/2006/relationships/image" Target="/ppt/media/image20.png" Id="Rbb4e31c76245427e" /><Relationship Type="http://schemas.openxmlformats.org/officeDocument/2006/relationships/notesSlide" Target="/ppt/notesSlides/notesSlide20.xml" Id="Rd74e5be76022475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360edfcb0934e8a" /><Relationship Type="http://schemas.openxmlformats.org/officeDocument/2006/relationships/image" Target="/ppt/media/image21.png" Id="Rfeb163c3f00243f2" /><Relationship Type="http://schemas.openxmlformats.org/officeDocument/2006/relationships/notesSlide" Target="/ppt/notesSlides/notesSlide21.xml" Id="R544303562d8c489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8d2503ecdf0405a" /><Relationship Type="http://schemas.openxmlformats.org/officeDocument/2006/relationships/image" Target="/ppt/media/image22.png" Id="R09bac74871a24337" /><Relationship Type="http://schemas.openxmlformats.org/officeDocument/2006/relationships/notesSlide" Target="/ppt/notesSlides/notesSlide22.xml" Id="Rd21b2d35a9fe4f3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76c055371734f47" /><Relationship Type="http://schemas.openxmlformats.org/officeDocument/2006/relationships/image" Target="/ppt/media/image23.png" Id="R6dd06b1ea0a94151" /><Relationship Type="http://schemas.openxmlformats.org/officeDocument/2006/relationships/notesSlide" Target="/ppt/notesSlides/notesSlide23.xml" Id="Rfbc89b7b54bc402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4d4db9719ac4ba1" /><Relationship Type="http://schemas.openxmlformats.org/officeDocument/2006/relationships/image" Target="/ppt/media/image24.png" Id="R9547d112a354415b" /><Relationship Type="http://schemas.openxmlformats.org/officeDocument/2006/relationships/notesSlide" Target="/ppt/notesSlides/notesSlide24.xml" Id="Rf6d6ee303fb4440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74f78b9c7724b15" /><Relationship Type="http://schemas.openxmlformats.org/officeDocument/2006/relationships/image" Target="/ppt/media/image25.png" Id="R996f6cce5002461d" /><Relationship Type="http://schemas.openxmlformats.org/officeDocument/2006/relationships/notesSlide" Target="/ppt/notesSlides/notesSlide25.xml" Id="R80acaedb46ee47f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cc6b46367c34773" /><Relationship Type="http://schemas.openxmlformats.org/officeDocument/2006/relationships/image" Target="/ppt/media/image26.png" Id="R02730c4a5ced4c36" /><Relationship Type="http://schemas.openxmlformats.org/officeDocument/2006/relationships/notesSlide" Target="/ppt/notesSlides/notesSlide26.xml" Id="Rab3b1f7c5226402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056bf091a6447aa" /><Relationship Type="http://schemas.openxmlformats.org/officeDocument/2006/relationships/image" Target="/ppt/media/image27.png" Id="Ra5b6aeabe22f4980" /><Relationship Type="http://schemas.openxmlformats.org/officeDocument/2006/relationships/notesSlide" Target="/ppt/notesSlides/notesSlide27.xml" Id="R3ae1c8e307c441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21b3faa8fed4838" /><Relationship Type="http://schemas.openxmlformats.org/officeDocument/2006/relationships/image" Target="/ppt/media/image28.png" Id="Ra620bf5d54624f8d" /><Relationship Type="http://schemas.openxmlformats.org/officeDocument/2006/relationships/notesSlide" Target="/ppt/notesSlides/notesSlide28.xml" Id="Ra0b2bb08cacf492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3d5d2013eaa43ee" /><Relationship Type="http://schemas.openxmlformats.org/officeDocument/2006/relationships/image" Target="/ppt/media/image29.png" Id="R0c0d28b1fb6a4e66" /><Relationship Type="http://schemas.openxmlformats.org/officeDocument/2006/relationships/notesSlide" Target="/ppt/notesSlides/notesSlide29.xml" Id="Rf7da603f7a434b8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1d5777503904edb" /><Relationship Type="http://schemas.openxmlformats.org/officeDocument/2006/relationships/image" Target="/ppt/media/image30.png" Id="R8ba1cb859ca04eee" /><Relationship Type="http://schemas.openxmlformats.org/officeDocument/2006/relationships/notesSlide" Target="/ppt/notesSlides/notesSlide30.xml" Id="R9557678113d1454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cad0cad1e7b4e3d" /><Relationship Type="http://schemas.openxmlformats.org/officeDocument/2006/relationships/image" Target="/ppt/media/image31.png" Id="Rbc1f266633df45a4" /><Relationship Type="http://schemas.openxmlformats.org/officeDocument/2006/relationships/notesSlide" Target="/ppt/notesSlides/notesSlide31.xml" Id="R8a8c04182aaf48d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49ca837752342f7" /><Relationship Type="http://schemas.openxmlformats.org/officeDocument/2006/relationships/image" Target="/ppt/media/image32.png" Id="R54e1c22ac39844e7" /><Relationship Type="http://schemas.openxmlformats.org/officeDocument/2006/relationships/notesSlide" Target="/ppt/notesSlides/notesSlide32.xml" Id="R95a3963ac22746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0021f70f59b4fcf" /><Relationship Type="http://schemas.openxmlformats.org/officeDocument/2006/relationships/image" Target="/ppt/media/image33.png" Id="Ra8521c95d4d24edc" /><Relationship Type="http://schemas.openxmlformats.org/officeDocument/2006/relationships/notesSlide" Target="/ppt/notesSlides/notesSlide33.xml" Id="R2b0690f985fd4ea8" /></Relationships>
</file>

<file path=ppt/slides/slide1.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C7D53F5-3443-4F33-BE55-32DC11D32720}"/>
              </a:ext>
            </a:extLst>
          </p:cNvPr>
          <p:cNvPicPr>
            <a:picLocks xmlns:a="http://schemas.openxmlformats.org/drawingml/2006/main" noChangeAspect="1"/>
          </p:cNvPicPr>
          <p:nvPr/>
        </p:nvPicPr>
        <p:blipFill>
          <a:blip xmlns:r="http://schemas.openxmlformats.org/officeDocument/2006/relationships" xmlns:a="http://schemas.openxmlformats.org/drawingml/2006/main" r:embed="Rb466c0722cbe4b43"/>
          <a:stretch xmlns:a="http://schemas.openxmlformats.org/drawingml/2006/main"/>
        </p:blipFill>
        <p:spPr>
          <a:xfrm xmlns:a="http://schemas.openxmlformats.org/drawingml/2006/main">
            <a:off x="2495550" y="876300"/>
            <a:ext cx="3238500" cy="1619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B448D7-2472-4773-847C-9CD843E10AFA}"/>
              </a:ext>
            </a:extLst>
          </p:cNvPr>
          <p:cNvSpPr>
            <a:spLocks xmlns:a="http://schemas.openxmlformats.org/drawingml/2006/main" noGrp="1"/>
          </p:cNvSpPr>
          <p:nvPr/>
        </p:nvSpPr>
        <p:spPr>
          <a:xfrm xmlns:a="http://schemas.openxmlformats.org/drawingml/2006/main">
            <a:off x="876300" y="3000375"/>
            <a:ext cx="8953500" cy="28575"/>
          </a:xfrm>
          <a:prstGeom xmlns:a="http://schemas.openxmlformats.org/drawingml/2006/main" prst="rect">
            <a:avLst/>
          </a:prstGeom>
          <a:solidFill xmlns:a="http://schemas.openxmlformats.org/drawingml/2006/main">
            <a:srgbClr val="F1C95B"/>
          </a:solidFill>
          <a:ln xmlns:a="http://schemas.openxmlformats.org/drawingml/2006/main" w="0">
            <a:solidFill>
              <a:srgbClr val="F1C95B"/>
            </a:solidFill>
            <a:prstDash val="solid"/>
          </a:ln>
        </p:spPr>
      </p:sp>
      <p:sp>
        <p:nvSpPr>
          <p:cNvPr id="3" name="">
            <a:extLst xmlns:a="http://schemas.openxmlformats.org/drawingml/2006/main">
              <a:ext uri="{FF2B5EF4-FFF2-40B4-BE49-F238E27FC236}">
                <a16:creationId xmlns:a16="http://schemas.microsoft.com/office/drawing/2014/main" id="{9652B117-46BC-4289-B6A9-346F475C1BAE}"/>
              </a:ext>
            </a:extLst>
          </p:cNvPr>
          <p:cNvSpPr>
            <a:spLocks xmlns:a="http://schemas.openxmlformats.org/drawingml/2006/main" noGrp="1"/>
          </p:cNvSpPr>
          <p:nvPr/>
        </p:nvSpPr>
        <p:spPr>
          <a:xfrm xmlns:a="http://schemas.openxmlformats.org/drawingml/2006/main">
            <a:off x="876300" y="3371850"/>
            <a:ext cx="7620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7F4EC"/>
                </a:solidFill>
              </a:defRPr>
            </a:defPPr>
          </a:lstStyle>
          <a:p xmlns:a="http://schemas.openxmlformats.org/drawingml/2006/main">
            <a:pPr>
              <a:defRPr sz="4050" b="1">
                <a:solidFill>
                  <a:srgbClr val="F7F4EC"/>
                </a:solidFill>
              </a:defRPr>
            </a:pPr>
            <a:r>
              <a:rPr sz="4050" b="1">
                <a:solidFill>
                  <a:srgbClr val="F7F4EC"/>
                </a:solidFill>
              </a:rPr>
              <a:t>Creator Action Review</a:t>
            </a:r>
          </a:p>
        </p:txBody>
      </p:sp>
      <p:sp>
        <p:nvSpPr>
          <p:cNvPr id="4" name="">
            <a:extLst xmlns:a="http://schemas.openxmlformats.org/drawingml/2006/main">
              <a:ext uri="{FF2B5EF4-FFF2-40B4-BE49-F238E27FC236}">
                <a16:creationId xmlns:a16="http://schemas.microsoft.com/office/drawing/2014/main" id="{DC9D3987-D139-4FE6-BB35-5C26BC08877D}"/>
              </a:ext>
            </a:extLst>
          </p:cNvPr>
          <p:cNvSpPr>
            <a:spLocks xmlns:a="http://schemas.openxmlformats.org/drawingml/2006/main" noGrp="1"/>
          </p:cNvSpPr>
          <p:nvPr/>
        </p:nvSpPr>
        <p:spPr>
          <a:xfrm xmlns:a="http://schemas.openxmlformats.org/drawingml/2006/main">
            <a:off x="895350" y="426720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1C95B"/>
                </a:solidFill>
              </a:defRPr>
            </a:defPPr>
          </a:lstStyle>
          <a:p xmlns:a="http://schemas.openxmlformats.org/drawingml/2006/main">
            <a:pPr>
              <a:defRPr sz="2100" b="1">
                <a:solidFill>
                  <a:srgbClr val="F1C95B"/>
                </a:solidFill>
              </a:defRPr>
            </a:pPr>
            <a:r>
              <a:rPr sz="2100" b="1">
                <a:solidFill>
                  <a:srgbClr val="F1C95B"/>
                </a:solidFill>
              </a:rPr>
              <a:t>Top 50 below matching September pace</a:t>
            </a:r>
          </a:p>
        </p:txBody>
      </p:sp>
      <p:sp>
        <p:nvSpPr>
          <p:cNvPr id="5" name="">
            <a:extLst xmlns:a="http://schemas.openxmlformats.org/drawingml/2006/main">
              <a:ext uri="{FF2B5EF4-FFF2-40B4-BE49-F238E27FC236}">
                <a16:creationId xmlns:a16="http://schemas.microsoft.com/office/drawing/2014/main" id="{735C2049-A18F-4C53-948C-BF62A78035F4}"/>
              </a:ext>
            </a:extLst>
          </p:cNvPr>
          <p:cNvSpPr>
            <a:spLocks xmlns:a="http://schemas.openxmlformats.org/drawingml/2006/main" noGrp="1"/>
          </p:cNvSpPr>
          <p:nvPr/>
        </p:nvSpPr>
        <p:spPr>
          <a:xfrm xmlns:a="http://schemas.openxmlformats.org/drawingml/2006/main">
            <a:off x="895350" y="47148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BFB8AA"/>
                </a:solidFill>
              </a:defRPr>
            </a:defPPr>
          </a:lstStyle>
          <a:p xmlns:a="http://schemas.openxmlformats.org/drawingml/2006/main">
            <a:pPr>
              <a:defRPr sz="1500" b="0">
                <a:solidFill>
                  <a:srgbClr val="BFB8AA"/>
                </a:solidFill>
              </a:defRPr>
            </a:pPr>
            <a:r>
              <a:rPr sz="1500" b="0">
                <a:solidFill>
                  <a:srgbClr val="BFB8AA"/>
                </a:solidFill>
              </a:rPr>
              <a:t>All uploaded data from 1-8 September compared with 1-8 October 2026</a:t>
            </a:r>
          </a:p>
        </p:txBody>
      </p:sp>
      <p:sp>
        <p:nvSpPr>
          <p:cNvPr id="6" name="">
            <a:extLst xmlns:a="http://schemas.openxmlformats.org/drawingml/2006/main">
              <a:ext uri="{FF2B5EF4-FFF2-40B4-BE49-F238E27FC236}">
                <a16:creationId xmlns:a16="http://schemas.microsoft.com/office/drawing/2014/main" id="{068FDD60-2F1B-4368-BFEF-EE878FDFA811}"/>
              </a:ext>
            </a:extLst>
          </p:cNvPr>
          <p:cNvSpPr>
            <a:spLocks xmlns:a="http://schemas.openxmlformats.org/drawingml/2006/main" noGrp="1"/>
          </p:cNvSpPr>
          <p:nvPr/>
        </p:nvSpPr>
        <p:spPr>
          <a:xfrm xmlns:a="http://schemas.openxmlformats.org/drawingml/2006/main">
            <a:off x="8477250" y="3657600"/>
            <a:ext cx="228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BE6A8"/>
                </a:solidFill>
              </a:defRPr>
            </a:defPPr>
          </a:lstStyle>
          <a:p xmlns:a="http://schemas.openxmlformats.org/drawingml/2006/main">
            <a:pPr>
              <a:defRPr sz="1800" b="1">
                <a:solidFill>
                  <a:srgbClr val="FBE6A8"/>
                </a:solidFill>
              </a:defRPr>
            </a:pPr>
            <a:r>
              <a:rPr sz="1800" b="1">
                <a:solidFill>
                  <a:srgbClr val="FBE6A8"/>
                </a:solidFill>
              </a:rPr>
              <a:t>50 creators</a:t>
            </a:r>
          </a:p>
          <a:p xmlns:a="http://schemas.openxmlformats.org/drawingml/2006/main">
            <a:pPr>
              <a:defRPr sz="1800" b="1">
                <a:solidFill>
                  <a:srgbClr val="FBE6A8"/>
                </a:solidFill>
              </a:defRPr>
            </a:pPr>
            <a:r>
              <a:rPr sz="1800" b="1">
                <a:solidFill>
                  <a:srgbClr val="FBE6A8"/>
                </a:solidFill>
              </a:rPr>
              <a:t>20 manager emails</a:t>
            </a:r>
          </a:p>
        </p:txBody>
      </p:sp>
      <p:sp>
        <p:nvSpPr>
          <p:cNvPr id="7" name="">
            <a:extLst xmlns:a="http://schemas.openxmlformats.org/drawingml/2006/main">
              <a:ext uri="{FF2B5EF4-FFF2-40B4-BE49-F238E27FC236}">
                <a16:creationId xmlns:a16="http://schemas.microsoft.com/office/drawing/2014/main" id="{F91CE88A-1A91-49CD-9373-A7A3A75CC0FA}"/>
              </a:ext>
            </a:extLst>
          </p:cNvPr>
          <p:cNvSpPr>
            <a:spLocks xmlns:a="http://schemas.openxmlformats.org/drawingml/2006/main" noGrp="1"/>
          </p:cNvSpPr>
          <p:nvPr/>
        </p:nvSpPr>
        <p:spPr>
          <a:xfrm xmlns:a="http://schemas.openxmlformats.org/drawingml/2006/main">
            <a:off x="895350" y="590550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BFB8AA"/>
                </a:solidFill>
              </a:defRPr>
            </a:defPPr>
          </a:lstStyle>
          <a:p xmlns:a="http://schemas.openxmlformats.org/drawingml/2006/main">
            <a:pPr>
              <a:defRPr sz="1275" b="0">
                <a:solidFill>
                  <a:srgbClr val="BFB8AA"/>
                </a:solidFill>
              </a:defRPr>
            </a:pPr>
            <a:r>
              <a:rPr sz="1275" b="0">
                <a:solidFill>
                  <a:srgbClr val="BFB8AA"/>
                </a:solidFill>
              </a:rPr>
              <a:t>A visual manager pack for clear conversations and practical recovery plans.</a:t>
            </a:r>
          </a:p>
        </p:txBody>
      </p:sp>
    </p:spTree>
    <p:extLst>
      <p:ext uri="{BB962C8B-B14F-4D97-AF65-F5344CB8AC3E}">
        <p14:creationId xmlns:p14="http://schemas.microsoft.com/office/powerpoint/2010/main" val="330827863"/>
      </p:ext>
    </p:extLst>
  </p:cSld>
</p:sld>
</file>

<file path=ppt/slides/slide2.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39C2DC2-0976-4061-8812-E4E37A32DE80}"/>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395F0A3E-4882-4DA2-A300-89B5DF781F87}"/>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6C4D7E0E-3612-46F6-A8DB-9E6D5591F5CF}"/>
              </a:ext>
            </a:extLst>
          </p:cNvPr>
          <p:cNvPicPr>
            <a:picLocks xmlns:a="http://schemas.openxmlformats.org/drawingml/2006/main" noChangeAspect="1"/>
          </p:cNvPicPr>
          <p:nvPr/>
        </p:nvPicPr>
        <p:blipFill>
          <a:blip xmlns:r="http://schemas.openxmlformats.org/officeDocument/2006/relationships" xmlns:a="http://schemas.openxmlformats.org/drawingml/2006/main" r:embed="Rb0bd64baec464107"/>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EC5A0D3-1AEB-42CE-ADDA-831CCE8301FD}"/>
              </a:ext>
            </a:extLst>
          </p:cNvPr>
          <p:cNvSpPr>
            <a:spLocks xmlns:a="http://schemas.openxmlformats.org/drawingml/2006/main" noGrp="1"/>
          </p:cNvSpPr>
          <p:nvPr/>
        </p:nvSpPr>
        <p:spPr>
          <a:xfrm xmlns:a="http://schemas.openxmlformats.org/drawingml/2006/main">
            <a:off x="628650" y="1009650"/>
            <a:ext cx="619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F7F4EC"/>
                </a:solidFill>
              </a:defRPr>
            </a:defPPr>
          </a:lstStyle>
          <a:p xmlns:a="http://schemas.openxmlformats.org/drawingml/2006/main">
            <a:pPr>
              <a:defRPr sz="2850" b="1">
                <a:solidFill>
                  <a:srgbClr val="F7F4EC"/>
                </a:solidFill>
              </a:defRPr>
            </a:pPr>
            <a:r>
              <a:rPr sz="2850" b="1">
                <a:solidFill>
                  <a:srgbClr val="F7F4EC"/>
                </a:solidFill>
              </a:rPr>
              <a:t>How to use this pack</a:t>
            </a:r>
          </a:p>
        </p:txBody>
      </p:sp>
      <p:sp>
        <p:nvSpPr>
          <p:cNvPr id="5" name="">
            <a:extLst xmlns:a="http://schemas.openxmlformats.org/drawingml/2006/main">
              <a:ext uri="{FF2B5EF4-FFF2-40B4-BE49-F238E27FC236}">
                <a16:creationId xmlns:a16="http://schemas.microsoft.com/office/drawing/2014/main" id="{DDA44A82-E2D9-41A2-83CD-2A58C0A5A251}"/>
              </a:ext>
            </a:extLst>
          </p:cNvPr>
          <p:cNvSpPr>
            <a:spLocks xmlns:a="http://schemas.openxmlformats.org/drawingml/2006/main" noGrp="1"/>
          </p:cNvSpPr>
          <p:nvPr/>
        </p:nvSpPr>
        <p:spPr>
          <a:xfrm xmlns:a="http://schemas.openxmlformats.org/drawingml/2006/main">
            <a:off x="628650" y="1657350"/>
            <a:ext cx="857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BFB8AA"/>
                </a:solidFill>
              </a:defRPr>
            </a:defPPr>
          </a:lstStyle>
          <a:p xmlns:a="http://schemas.openxmlformats.org/drawingml/2006/main">
            <a:pPr>
              <a:defRPr sz="1500" b="0">
                <a:solidFill>
                  <a:srgbClr val="BFB8AA"/>
                </a:solidFill>
              </a:defRPr>
            </a:pPr>
            <a:r>
              <a:rPr sz="1500" b="0">
                <a:solidFill>
                  <a:srgbClr val="BFB8AA"/>
                </a:solidFill>
              </a:rPr>
              <a:t>Each slide contains a small number of creators for one manager. Read the cause first, then use the manager conversation as the action to agree.</a:t>
            </a:r>
          </a:p>
        </p:txBody>
      </p:sp>
      <p:sp>
        <p:nvSpPr>
          <p:cNvPr id="6" name="">
            <a:extLst xmlns:a="http://schemas.openxmlformats.org/drawingml/2006/main">
              <a:ext uri="{FF2B5EF4-FFF2-40B4-BE49-F238E27FC236}">
                <a16:creationId xmlns:a16="http://schemas.microsoft.com/office/drawing/2014/main" id="{2F314058-3683-499C-B2EF-544BCACBCBE6}"/>
              </a:ext>
            </a:extLst>
          </p:cNvPr>
          <p:cNvSpPr>
            <a:spLocks xmlns:a="http://schemas.openxmlformats.org/drawingml/2006/main" noGrp="1"/>
          </p:cNvSpPr>
          <p:nvPr/>
        </p:nvSpPr>
        <p:spPr>
          <a:xfrm xmlns:a="http://schemas.openxmlformats.org/drawingml/2006/main">
            <a:off x="628650" y="2400300"/>
            <a:ext cx="10934700" cy="19050"/>
          </a:xfrm>
          <a:prstGeom xmlns:a="http://schemas.openxmlformats.org/drawingml/2006/main" prst="rect">
            <a:avLst/>
          </a:prstGeom>
          <a:solidFill xmlns:a="http://schemas.openxmlformats.org/drawingml/2006/main">
            <a:srgbClr val="F1C95B"/>
          </a:solidFill>
          <a:ln xmlns:a="http://schemas.openxmlformats.org/drawingml/2006/main" w="0">
            <a:solidFill>
              <a:srgbClr val="F1C95B"/>
            </a:solidFill>
            <a:prstDash val="solid"/>
          </a:ln>
        </p:spPr>
      </p:sp>
      <p:sp>
        <p:nvSpPr>
          <p:cNvPr id="7" name="">
            <a:extLst xmlns:a="http://schemas.openxmlformats.org/drawingml/2006/main">
              <a:ext uri="{FF2B5EF4-FFF2-40B4-BE49-F238E27FC236}">
                <a16:creationId xmlns:a16="http://schemas.microsoft.com/office/drawing/2014/main" id="{59588772-1E75-43BC-BA93-DAFEDC0BD871}"/>
              </a:ext>
            </a:extLst>
          </p:cNvPr>
          <p:cNvSpPr>
            <a:spLocks xmlns:a="http://schemas.openxmlformats.org/drawingml/2006/main" noGrp="1"/>
          </p:cNvSpPr>
          <p:nvPr/>
        </p:nvSpPr>
        <p:spPr>
          <a:xfrm xmlns:a="http://schemas.openxmlformats.org/drawingml/2006/main">
            <a:off x="762000" y="2857500"/>
            <a:ext cx="66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F1C95B"/>
                </a:solidFill>
              </a:defRPr>
            </a:defPPr>
          </a:lstStyle>
          <a:p xmlns:a="http://schemas.openxmlformats.org/drawingml/2006/main">
            <a:pPr>
              <a:defRPr sz="3000" b="1">
                <a:solidFill>
                  <a:srgbClr val="F1C95B"/>
                </a:solidFill>
              </a:defRPr>
            </a:pPr>
            <a:r>
              <a:rPr sz="3000" b="1">
                <a:solidFill>
                  <a:srgbClr val="F1C95B"/>
                </a:solidFill>
              </a:rPr>
              <a:t>1</a:t>
            </a:r>
          </a:p>
        </p:txBody>
      </p:sp>
      <p:sp>
        <p:nvSpPr>
          <p:cNvPr id="8" name="">
            <a:extLst xmlns:a="http://schemas.openxmlformats.org/drawingml/2006/main">
              <a:ext uri="{FF2B5EF4-FFF2-40B4-BE49-F238E27FC236}">
                <a16:creationId xmlns:a16="http://schemas.microsoft.com/office/drawing/2014/main" id="{3F5E9C89-E663-4740-8543-54BF6724A1F0}"/>
              </a:ext>
            </a:extLst>
          </p:cNvPr>
          <p:cNvSpPr>
            <a:spLocks xmlns:a="http://schemas.openxmlformats.org/drawingml/2006/main" noGrp="1"/>
          </p:cNvSpPr>
          <p:nvPr/>
        </p:nvSpPr>
        <p:spPr>
          <a:xfrm xmlns:a="http://schemas.openxmlformats.org/drawingml/2006/main">
            <a:off x="1619250" y="289560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F7F4EC"/>
                </a:solidFill>
              </a:defRPr>
            </a:defPPr>
          </a:lstStyle>
          <a:p xmlns:a="http://schemas.openxmlformats.org/drawingml/2006/main">
            <a:pPr>
              <a:defRPr sz="1950" b="1">
                <a:solidFill>
                  <a:srgbClr val="F7F4EC"/>
                </a:solidFill>
              </a:defRPr>
            </a:pPr>
            <a:r>
              <a:rPr sz="1950" b="1">
                <a:solidFill>
                  <a:srgbClr val="F7F4EC"/>
                </a:solidFill>
              </a:rPr>
              <a:t>Check what changed</a:t>
            </a:r>
          </a:p>
        </p:txBody>
      </p:sp>
      <p:sp>
        <p:nvSpPr>
          <p:cNvPr id="9" name="">
            <a:extLst xmlns:a="http://schemas.openxmlformats.org/drawingml/2006/main">
              <a:ext uri="{FF2B5EF4-FFF2-40B4-BE49-F238E27FC236}">
                <a16:creationId xmlns:a16="http://schemas.microsoft.com/office/drawing/2014/main" id="{9B5D6650-8A0C-4961-8F32-721455F3A1F8}"/>
              </a:ext>
            </a:extLst>
          </p:cNvPr>
          <p:cNvSpPr>
            <a:spLocks xmlns:a="http://schemas.openxmlformats.org/drawingml/2006/main" noGrp="1"/>
          </p:cNvSpPr>
          <p:nvPr/>
        </p:nvSpPr>
        <p:spPr>
          <a:xfrm xmlns:a="http://schemas.openxmlformats.org/drawingml/2006/main">
            <a:off x="1619250" y="331470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FB8AA"/>
                </a:solidFill>
              </a:defRPr>
            </a:defPPr>
          </a:lstStyle>
          <a:p xmlns:a="http://schemas.openxmlformats.org/drawingml/2006/main">
            <a:pPr>
              <a:defRPr sz="1350" b="0">
                <a:solidFill>
                  <a:srgbClr val="BFB8AA"/>
                </a:solidFill>
              </a:defRPr>
            </a:pPr>
            <a:r>
              <a:rPr sz="1350" b="0">
                <a:solidFill>
                  <a:srgbClr val="BFB8AA"/>
                </a:solidFill>
              </a:rPr>
              <a:t>The cause section shows whether the gap comes from live hours, streams, matches, or weaker conversion at similar activity.</a:t>
            </a:r>
          </a:p>
        </p:txBody>
      </p:sp>
      <p:sp>
        <p:nvSpPr>
          <p:cNvPr id="10" name="">
            <a:extLst xmlns:a="http://schemas.openxmlformats.org/drawingml/2006/main">
              <a:ext uri="{FF2B5EF4-FFF2-40B4-BE49-F238E27FC236}">
                <a16:creationId xmlns:a16="http://schemas.microsoft.com/office/drawing/2014/main" id="{00F01F55-B6E0-4C97-BE19-EC88113C42EF}"/>
              </a:ext>
            </a:extLst>
          </p:cNvPr>
          <p:cNvSpPr>
            <a:spLocks xmlns:a="http://schemas.openxmlformats.org/drawingml/2006/main" noGrp="1"/>
          </p:cNvSpPr>
          <p:nvPr/>
        </p:nvSpPr>
        <p:spPr>
          <a:xfrm xmlns:a="http://schemas.openxmlformats.org/drawingml/2006/main">
            <a:off x="762000" y="4191000"/>
            <a:ext cx="66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F1C95B"/>
                </a:solidFill>
              </a:defRPr>
            </a:defPPr>
          </a:lstStyle>
          <a:p xmlns:a="http://schemas.openxmlformats.org/drawingml/2006/main">
            <a:pPr>
              <a:defRPr sz="3000" b="1">
                <a:solidFill>
                  <a:srgbClr val="F1C95B"/>
                </a:solidFill>
              </a:defRPr>
            </a:pPr>
            <a:r>
              <a:rPr sz="3000" b="1">
                <a:solidFill>
                  <a:srgbClr val="F1C95B"/>
                </a:solidFill>
              </a:rPr>
              <a:t>2</a:t>
            </a:r>
          </a:p>
        </p:txBody>
      </p:sp>
      <p:sp>
        <p:nvSpPr>
          <p:cNvPr id="11" name="">
            <a:extLst xmlns:a="http://schemas.openxmlformats.org/drawingml/2006/main">
              <a:ext uri="{FF2B5EF4-FFF2-40B4-BE49-F238E27FC236}">
                <a16:creationId xmlns:a16="http://schemas.microsoft.com/office/drawing/2014/main" id="{F881DDFB-3DA0-4FC4-AA53-88B212F9481B}"/>
              </a:ext>
            </a:extLst>
          </p:cNvPr>
          <p:cNvSpPr>
            <a:spLocks xmlns:a="http://schemas.openxmlformats.org/drawingml/2006/main" noGrp="1"/>
          </p:cNvSpPr>
          <p:nvPr/>
        </p:nvSpPr>
        <p:spPr>
          <a:xfrm xmlns:a="http://schemas.openxmlformats.org/drawingml/2006/main">
            <a:off x="1619250" y="42291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F7F4EC"/>
                </a:solidFill>
              </a:defRPr>
            </a:defPPr>
          </a:lstStyle>
          <a:p xmlns:a="http://schemas.openxmlformats.org/drawingml/2006/main">
            <a:pPr>
              <a:defRPr sz="1950" b="1">
                <a:solidFill>
                  <a:srgbClr val="F7F4EC"/>
                </a:solidFill>
              </a:defRPr>
            </a:pPr>
            <a:r>
              <a:rPr sz="1950" b="1">
                <a:solidFill>
                  <a:srgbClr val="F7F4EC"/>
                </a:solidFill>
              </a:rPr>
              <a:t>Have the right conversation</a:t>
            </a:r>
          </a:p>
        </p:txBody>
      </p:sp>
      <p:sp>
        <p:nvSpPr>
          <p:cNvPr id="12" name="">
            <a:extLst xmlns:a="http://schemas.openxmlformats.org/drawingml/2006/main">
              <a:ext uri="{FF2B5EF4-FFF2-40B4-BE49-F238E27FC236}">
                <a16:creationId xmlns:a16="http://schemas.microsoft.com/office/drawing/2014/main" id="{0EE31309-03BD-477E-8ECB-8B97F1EA13B3}"/>
              </a:ext>
            </a:extLst>
          </p:cNvPr>
          <p:cNvSpPr>
            <a:spLocks xmlns:a="http://schemas.openxmlformats.org/drawingml/2006/main" noGrp="1"/>
          </p:cNvSpPr>
          <p:nvPr/>
        </p:nvSpPr>
        <p:spPr>
          <a:xfrm xmlns:a="http://schemas.openxmlformats.org/drawingml/2006/main">
            <a:off x="1619250" y="464820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FB8AA"/>
                </a:solidFill>
              </a:defRPr>
            </a:defPPr>
          </a:lstStyle>
          <a:p xmlns:a="http://schemas.openxmlformats.org/drawingml/2006/main">
            <a:pPr>
              <a:defRPr sz="1350" b="0">
                <a:solidFill>
                  <a:srgbClr val="BFB8AA"/>
                </a:solidFill>
              </a:defRPr>
            </a:pPr>
            <a:r>
              <a:rPr sz="1350" b="0">
                <a:solidFill>
                  <a:srgbClr val="BFB8AA"/>
                </a:solidFill>
              </a:rPr>
              <a:t>Use the written action to agree a live schedule, match plan, or a visual and conversion review with the creator.</a:t>
            </a:r>
          </a:p>
        </p:txBody>
      </p:sp>
      <p:sp>
        <p:nvSpPr>
          <p:cNvPr id="13" name="">
            <a:extLst xmlns:a="http://schemas.openxmlformats.org/drawingml/2006/main">
              <a:ext uri="{FF2B5EF4-FFF2-40B4-BE49-F238E27FC236}">
                <a16:creationId xmlns:a16="http://schemas.microsoft.com/office/drawing/2014/main" id="{BB76041F-91BC-4CD0-904D-652EC367C8B7}"/>
              </a:ext>
            </a:extLst>
          </p:cNvPr>
          <p:cNvSpPr>
            <a:spLocks xmlns:a="http://schemas.openxmlformats.org/drawingml/2006/main" noGrp="1"/>
          </p:cNvSpPr>
          <p:nvPr/>
        </p:nvSpPr>
        <p:spPr>
          <a:xfrm xmlns:a="http://schemas.openxmlformats.org/drawingml/2006/main">
            <a:off x="762000" y="5524500"/>
            <a:ext cx="66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F1C95B"/>
                </a:solidFill>
              </a:defRPr>
            </a:defPPr>
          </a:lstStyle>
          <a:p xmlns:a="http://schemas.openxmlformats.org/drawingml/2006/main">
            <a:pPr>
              <a:defRPr sz="3000" b="1">
                <a:solidFill>
                  <a:srgbClr val="F1C95B"/>
                </a:solidFill>
              </a:defRPr>
            </a:pPr>
            <a:r>
              <a:rPr sz="3000" b="1">
                <a:solidFill>
                  <a:srgbClr val="F1C95B"/>
                </a:solidFill>
              </a:rPr>
              <a:t>3</a:t>
            </a:r>
          </a:p>
        </p:txBody>
      </p:sp>
      <p:sp>
        <p:nvSpPr>
          <p:cNvPr id="14" name="">
            <a:extLst xmlns:a="http://schemas.openxmlformats.org/drawingml/2006/main">
              <a:ext uri="{FF2B5EF4-FFF2-40B4-BE49-F238E27FC236}">
                <a16:creationId xmlns:a16="http://schemas.microsoft.com/office/drawing/2014/main" id="{64ADA960-9E42-405D-A06A-567ADD580074}"/>
              </a:ext>
            </a:extLst>
          </p:cNvPr>
          <p:cNvSpPr>
            <a:spLocks xmlns:a="http://schemas.openxmlformats.org/drawingml/2006/main" noGrp="1"/>
          </p:cNvSpPr>
          <p:nvPr/>
        </p:nvSpPr>
        <p:spPr>
          <a:xfrm xmlns:a="http://schemas.openxmlformats.org/drawingml/2006/main">
            <a:off x="1619250" y="55626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F7F4EC"/>
                </a:solidFill>
              </a:defRPr>
            </a:defPPr>
          </a:lstStyle>
          <a:p xmlns:a="http://schemas.openxmlformats.org/drawingml/2006/main">
            <a:pPr>
              <a:defRPr sz="1950" b="1">
                <a:solidFill>
                  <a:srgbClr val="F7F4EC"/>
                </a:solidFill>
              </a:defRPr>
            </a:pPr>
            <a:r>
              <a:rPr sz="1950" b="1">
                <a:solidFill>
                  <a:srgbClr val="F7F4EC"/>
                </a:solidFill>
              </a:rPr>
              <a:t>Check back within the week</a:t>
            </a:r>
          </a:p>
        </p:txBody>
      </p:sp>
      <p:sp>
        <p:nvSpPr>
          <p:cNvPr id="15" name="">
            <a:extLst xmlns:a="http://schemas.openxmlformats.org/drawingml/2006/main">
              <a:ext uri="{FF2B5EF4-FFF2-40B4-BE49-F238E27FC236}">
                <a16:creationId xmlns:a16="http://schemas.microsoft.com/office/drawing/2014/main" id="{5F562BB8-E0C8-477D-9DBC-559FF4A6DA66}"/>
              </a:ext>
            </a:extLst>
          </p:cNvPr>
          <p:cNvSpPr>
            <a:spLocks xmlns:a="http://schemas.openxmlformats.org/drawingml/2006/main" noGrp="1"/>
          </p:cNvSpPr>
          <p:nvPr/>
        </p:nvSpPr>
        <p:spPr>
          <a:xfrm xmlns:a="http://schemas.openxmlformats.org/drawingml/2006/main">
            <a:off x="1619250" y="598170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FB8AA"/>
                </a:solidFill>
              </a:defRPr>
            </a:defPPr>
          </a:lstStyle>
          <a:p xmlns:a="http://schemas.openxmlformats.org/drawingml/2006/main">
            <a:pPr>
              <a:defRPr sz="1350" b="0">
                <a:solidFill>
                  <a:srgbClr val="BFB8AA"/>
                </a:solidFill>
              </a:defRPr>
            </a:pPr>
            <a:r>
              <a:rPr sz="1350" b="0">
                <a:solidFill>
                  <a:srgbClr val="BFB8AA"/>
                </a:solidFill>
              </a:rPr>
              <a:t>The goal is a practical change in the creator's next lives, rather than simply recording the issue.</a:t>
            </a:r>
          </a:p>
        </p:txBody>
      </p:sp>
    </p:spTree>
    <p:extLst>
      <p:ext uri="{BB962C8B-B14F-4D97-AF65-F5344CB8AC3E}">
        <p14:creationId xmlns:p14="http://schemas.microsoft.com/office/powerpoint/2010/main" val="73111318"/>
      </p:ext>
    </p:extLst>
  </p:cSld>
</p:sld>
</file>

<file path=ppt/slides/slide3.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B8922C1-BD69-4233-995D-EADE54AB96E5}"/>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ADE71E2F-3CEF-491B-BA1E-FE904A1BED26}"/>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0A78CBAB-6D92-48E2-98CA-44E737315635}"/>
              </a:ext>
            </a:extLst>
          </p:cNvPr>
          <p:cNvPicPr>
            <a:picLocks xmlns:a="http://schemas.openxmlformats.org/drawingml/2006/main" noChangeAspect="1"/>
          </p:cNvPicPr>
          <p:nvPr/>
        </p:nvPicPr>
        <p:blipFill>
          <a:blip xmlns:r="http://schemas.openxmlformats.org/officeDocument/2006/relationships" xmlns:a="http://schemas.openxmlformats.org/drawingml/2006/main" r:embed="R7e961b6fd1544cfc"/>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CFE1214-704E-4B5B-BACE-F3516B9ECDBA}"/>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astryxplays@gmail.com</a:t>
            </a:r>
          </a:p>
        </p:txBody>
      </p:sp>
      <p:sp>
        <p:nvSpPr>
          <p:cNvPr id="5" name="">
            <a:extLst xmlns:a="http://schemas.openxmlformats.org/drawingml/2006/main">
              <a:ext uri="{FF2B5EF4-FFF2-40B4-BE49-F238E27FC236}">
                <a16:creationId xmlns:a16="http://schemas.microsoft.com/office/drawing/2014/main" id="{9366E007-9A88-4D56-B1DC-DB2A5AD6E8CF}"/>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C239E0EB-426F-4D47-A0B9-ED3B646916EF}"/>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27296BB9-B15C-4353-8747-FA85C23A1026}"/>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@astryxplays</a:t>
            </a:r>
          </a:p>
        </p:txBody>
      </p:sp>
      <p:sp>
        <p:nvSpPr>
          <p:cNvPr id="8" name="">
            <a:extLst xmlns:a="http://schemas.openxmlformats.org/drawingml/2006/main">
              <a:ext uri="{FF2B5EF4-FFF2-40B4-BE49-F238E27FC236}">
                <a16:creationId xmlns:a16="http://schemas.microsoft.com/office/drawing/2014/main" id="{03A14416-D636-42F7-9617-CC11D3AA7BF8}"/>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1AAAB08C-CA83-4634-BD6B-BCEF33CC7F5F}"/>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-96%</a:t>
            </a:r>
          </a:p>
        </p:txBody>
      </p:sp>
      <p:sp>
        <p:nvSpPr>
          <p:cNvPr id="10" name="">
            <a:extLst xmlns:a="http://schemas.openxmlformats.org/drawingml/2006/main">
              <a:ext uri="{FF2B5EF4-FFF2-40B4-BE49-F238E27FC236}">
                <a16:creationId xmlns:a16="http://schemas.microsoft.com/office/drawing/2014/main" id="{AF2BA916-C5D9-4904-9B57-3668CB12A0F3}"/>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33,182  |  Oct 1-8: 1,299</a:t>
            </a:r>
          </a:p>
        </p:txBody>
      </p:sp>
      <p:sp>
        <p:nvSpPr>
          <p:cNvPr id="11" name="">
            <a:extLst xmlns:a="http://schemas.openxmlformats.org/drawingml/2006/main">
              <a:ext uri="{FF2B5EF4-FFF2-40B4-BE49-F238E27FC236}">
                <a16:creationId xmlns:a16="http://schemas.microsoft.com/office/drawing/2014/main" id="{102A402B-97A0-4CD8-8E26-0392C6D285D8}"/>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3043CFEF-4319-4376-A762-F17247328C4A}"/>
              </a:ext>
            </a:extLst>
          </p:cNvPr>
          <p:cNvSpPr>
            <a:spLocks xmlns:a="http://schemas.openxmlformats.org/drawingml/2006/main" noGrp="1"/>
          </p:cNvSpPr>
          <p:nvPr/>
        </p:nvSpPr>
        <p:spPr>
          <a:xfrm xmlns:a="http://schemas.openxmlformats.org/drawingml/2006/main">
            <a:off x="4000500" y="2809875"/>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4% of Sep 1-8 (1.3k/33.2k)</a:t>
            </a:r>
          </a:p>
          <a:p xmlns:a="http://schemas.openxmlformats.org/drawingml/2006/main">
            <a:pPr>
              <a:defRPr sz="1200" b="0">
                <a:solidFill>
                  <a:srgbClr val="F7F4EC"/>
                </a:solidFill>
              </a:defRPr>
            </a:pPr>
            <a:r>
              <a:rPr sz="1200" b="0">
                <a:solidFill>
                  <a:srgbClr val="F7F4EC"/>
                </a:solidFill>
              </a:rPr>
              <a:t>Hours 43% of Sep 1-8 (7h/15h)</a:t>
            </a:r>
          </a:p>
        </p:txBody>
      </p:sp>
      <p:sp>
        <p:nvSpPr>
          <p:cNvPr id="13" name="">
            <a:extLst xmlns:a="http://schemas.openxmlformats.org/drawingml/2006/main">
              <a:ext uri="{FF2B5EF4-FFF2-40B4-BE49-F238E27FC236}">
                <a16:creationId xmlns:a16="http://schemas.microsoft.com/office/drawing/2014/main" id="{549B269A-D2A7-4F16-9061-D4FA5134FDA9}"/>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8574D0EF-D934-40AC-B67B-6B9B03746065}"/>
              </a:ext>
            </a:extLst>
          </p:cNvPr>
          <p:cNvSpPr>
            <a:spLocks xmlns:a="http://schemas.openxmlformats.org/drawingml/2006/main" noGrp="1"/>
          </p:cNvSpPr>
          <p:nvPr/>
        </p:nvSpPr>
        <p:spPr>
          <a:xfrm xmlns:a="http://schemas.openxmlformats.org/drawingml/2006/main">
            <a:off x="7620000" y="2809875"/>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43%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4CE533CE-CD75-4AEA-9222-16936A6B6052}"/>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3</a:t>
            </a:r>
          </a:p>
        </p:txBody>
      </p:sp>
    </p:spTree>
    <p:extLst>
      <p:ext uri="{BB962C8B-B14F-4D97-AF65-F5344CB8AC3E}">
        <p14:creationId xmlns:p14="http://schemas.microsoft.com/office/powerpoint/2010/main" val="2044030171"/>
      </p:ext>
    </p:extLst>
  </p:cSld>
</p:sld>
</file>

<file path=ppt/slides/slide4.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DBEF28A-67B3-4770-BB3F-F8A02A001944}"/>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68EF41CF-739C-4711-9235-B09511E2ADE8}"/>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F7B319C7-072B-4E54-9351-4719F8E6EDC0}"/>
              </a:ext>
            </a:extLst>
          </p:cNvPr>
          <p:cNvPicPr>
            <a:picLocks xmlns:a="http://schemas.openxmlformats.org/drawingml/2006/main" noChangeAspect="1"/>
          </p:cNvPicPr>
          <p:nvPr/>
        </p:nvPicPr>
        <p:blipFill>
          <a:blip xmlns:r="http://schemas.openxmlformats.org/officeDocument/2006/relationships" xmlns:a="http://schemas.openxmlformats.org/drawingml/2006/main" r:embed="R362823905c9d4acb"/>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DE5C4A4-DFE7-4E6C-815D-1E946660F4D1}"/>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byrne.gemma@icloud.com</a:t>
            </a:r>
          </a:p>
        </p:txBody>
      </p:sp>
      <p:sp>
        <p:nvSpPr>
          <p:cNvPr id="5" name="">
            <a:extLst xmlns:a="http://schemas.openxmlformats.org/drawingml/2006/main">
              <a:ext uri="{FF2B5EF4-FFF2-40B4-BE49-F238E27FC236}">
                <a16:creationId xmlns:a16="http://schemas.microsoft.com/office/drawing/2014/main" id="{B4204772-F269-4035-B595-F699592FD492}"/>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62B2C342-1B1C-449A-A301-8C7A34B58CB9}"/>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AB1BF335-1A23-406A-AEE6-E22BA799BF13}"/>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@pappa1901</a:t>
            </a:r>
          </a:p>
        </p:txBody>
      </p:sp>
      <p:sp>
        <p:nvSpPr>
          <p:cNvPr id="8" name="">
            <a:extLst xmlns:a="http://schemas.openxmlformats.org/drawingml/2006/main">
              <a:ext uri="{FF2B5EF4-FFF2-40B4-BE49-F238E27FC236}">
                <a16:creationId xmlns:a16="http://schemas.microsoft.com/office/drawing/2014/main" id="{94CD298F-D70B-4860-8D9F-519331990C27}"/>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11F0A20F-7AAB-40DF-9586-BB3D6B21D5CD}"/>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-82%</a:t>
            </a:r>
          </a:p>
        </p:txBody>
      </p:sp>
      <p:sp>
        <p:nvSpPr>
          <p:cNvPr id="10" name="">
            <a:extLst xmlns:a="http://schemas.openxmlformats.org/drawingml/2006/main">
              <a:ext uri="{FF2B5EF4-FFF2-40B4-BE49-F238E27FC236}">
                <a16:creationId xmlns:a16="http://schemas.microsoft.com/office/drawing/2014/main" id="{BA94AD8D-0E1E-4EC6-A091-6372A398C04B}"/>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61,099  |  Oct 1-8: 10,803</a:t>
            </a:r>
          </a:p>
        </p:txBody>
      </p:sp>
      <p:sp>
        <p:nvSpPr>
          <p:cNvPr id="11" name="">
            <a:extLst xmlns:a="http://schemas.openxmlformats.org/drawingml/2006/main">
              <a:ext uri="{FF2B5EF4-FFF2-40B4-BE49-F238E27FC236}">
                <a16:creationId xmlns:a16="http://schemas.microsoft.com/office/drawing/2014/main" id="{A5B4DDC5-C340-498C-B1C3-1665EE41AFC0}"/>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C753DCDD-A07F-4645-B804-5F8C2959D217}"/>
              </a:ext>
            </a:extLst>
          </p:cNvPr>
          <p:cNvSpPr>
            <a:spLocks xmlns:a="http://schemas.openxmlformats.org/drawingml/2006/main" noGrp="1"/>
          </p:cNvSpPr>
          <p:nvPr/>
        </p:nvSpPr>
        <p:spPr>
          <a:xfrm xmlns:a="http://schemas.openxmlformats.org/drawingml/2006/main">
            <a:off x="4000500" y="2809875"/>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Hours 30% of Sep 1-8 (3h/11h)</a:t>
            </a:r>
          </a:p>
          <a:p xmlns:a="http://schemas.openxmlformats.org/drawingml/2006/main">
            <a:pPr>
              <a:defRPr sz="1200" b="0">
                <a:solidFill>
                  <a:srgbClr val="F7F4EC"/>
                </a:solidFill>
              </a:defRPr>
            </a:pPr>
            <a:r>
              <a:rPr sz="1200" b="0">
                <a:solidFill>
                  <a:srgbClr val="F7F4EC"/>
                </a:solidFill>
              </a:rPr>
              <a:t>Diamonds 18% of Sep 1-8 (10.8k/61.1k)</a:t>
            </a:r>
          </a:p>
        </p:txBody>
      </p:sp>
      <p:sp>
        <p:nvSpPr>
          <p:cNvPr id="13" name="">
            <a:extLst xmlns:a="http://schemas.openxmlformats.org/drawingml/2006/main">
              <a:ext uri="{FF2B5EF4-FFF2-40B4-BE49-F238E27FC236}">
                <a16:creationId xmlns:a16="http://schemas.microsoft.com/office/drawing/2014/main" id="{71423102-A84D-414C-9FB1-6E1A7E452B42}"/>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7C334A03-91F4-43B6-A73E-C787EE87E234}"/>
              </a:ext>
            </a:extLst>
          </p:cNvPr>
          <p:cNvSpPr>
            <a:spLocks xmlns:a="http://schemas.openxmlformats.org/drawingml/2006/main" noGrp="1"/>
          </p:cNvSpPr>
          <p:nvPr/>
        </p:nvSpPr>
        <p:spPr>
          <a:xfrm xmlns:a="http://schemas.openxmlformats.org/drawingml/2006/main">
            <a:off x="7620000" y="2809875"/>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30%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DB098FDF-2B06-43D0-8E31-D4935709CE82}"/>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4</a:t>
            </a:r>
          </a:p>
        </p:txBody>
      </p:sp>
    </p:spTree>
    <p:extLst>
      <p:ext uri="{BB962C8B-B14F-4D97-AF65-F5344CB8AC3E}">
        <p14:creationId xmlns:p14="http://schemas.microsoft.com/office/powerpoint/2010/main" val="388204245"/>
      </p:ext>
    </p:extLst>
  </p:cSld>
</p:sld>
</file>

<file path=ppt/slides/slide5.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983D855-2438-47FE-A86F-1BB45A228BAD}"/>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BB7BAEC3-7184-4280-9039-51B1354678E2}"/>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BCCA9492-D268-47CA-8709-E04144110611}"/>
              </a:ext>
            </a:extLst>
          </p:cNvPr>
          <p:cNvPicPr>
            <a:picLocks xmlns:a="http://schemas.openxmlformats.org/drawingml/2006/main" noChangeAspect="1"/>
          </p:cNvPicPr>
          <p:nvPr/>
        </p:nvPicPr>
        <p:blipFill>
          <a:blip xmlns:r="http://schemas.openxmlformats.org/officeDocument/2006/relationships" xmlns:a="http://schemas.openxmlformats.org/drawingml/2006/main" r:embed="Ra76d8f22d1134ea4"/>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CDBADAA-0D71-4485-923B-7B1E0B7EB546}"/>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carrie_manager@outlook.com</a:t>
            </a:r>
          </a:p>
        </p:txBody>
      </p:sp>
      <p:sp>
        <p:nvSpPr>
          <p:cNvPr id="5" name="">
            <a:extLst xmlns:a="http://schemas.openxmlformats.org/drawingml/2006/main">
              <a:ext uri="{FF2B5EF4-FFF2-40B4-BE49-F238E27FC236}">
                <a16:creationId xmlns:a16="http://schemas.microsoft.com/office/drawing/2014/main" id="{77B2461A-A5F9-45B6-A03A-832B4C2197A3}"/>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7CCFAA8E-EAD9-43BF-A388-8EEF1712CB42}"/>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4170575F-80F0-4EDA-B9C5-C49101731AA3}"/>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@chloechapman2003</a:t>
            </a:r>
          </a:p>
        </p:txBody>
      </p:sp>
      <p:sp>
        <p:nvSpPr>
          <p:cNvPr id="8" name="">
            <a:extLst xmlns:a="http://schemas.openxmlformats.org/drawingml/2006/main">
              <a:ext uri="{FF2B5EF4-FFF2-40B4-BE49-F238E27FC236}">
                <a16:creationId xmlns:a16="http://schemas.microsoft.com/office/drawing/2014/main" id="{17E341D1-3AD0-440C-ACCA-57C55AAD57CB}"/>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65E6A7C4-0C66-4B79-BDDF-4FB09AC32334}"/>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-90%</a:t>
            </a:r>
          </a:p>
        </p:txBody>
      </p:sp>
      <p:sp>
        <p:nvSpPr>
          <p:cNvPr id="10" name="">
            <a:extLst xmlns:a="http://schemas.openxmlformats.org/drawingml/2006/main">
              <a:ext uri="{FF2B5EF4-FFF2-40B4-BE49-F238E27FC236}">
                <a16:creationId xmlns:a16="http://schemas.microsoft.com/office/drawing/2014/main" id="{5FD0EE15-3D80-4EF9-B8DC-961818755EA5}"/>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112,928  |  Oct 1-8: 11,316</a:t>
            </a:r>
          </a:p>
        </p:txBody>
      </p:sp>
      <p:sp>
        <p:nvSpPr>
          <p:cNvPr id="11" name="">
            <a:extLst xmlns:a="http://schemas.openxmlformats.org/drawingml/2006/main">
              <a:ext uri="{FF2B5EF4-FFF2-40B4-BE49-F238E27FC236}">
                <a16:creationId xmlns:a16="http://schemas.microsoft.com/office/drawing/2014/main" id="{F8B6F6D3-899A-4EA7-9585-8E4797EDCF73}"/>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B86DDFC6-3062-4D9F-82C1-793D42C0A50B}"/>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Hours 8% of Sep 1-8 (3h/38h)</a:t>
            </a:r>
          </a:p>
          <a:p xmlns:a="http://schemas.openxmlformats.org/drawingml/2006/main">
            <a:pPr>
              <a:defRPr sz="1200" b="0">
                <a:solidFill>
                  <a:srgbClr val="F7F4EC"/>
                </a:solidFill>
              </a:defRPr>
            </a:pPr>
            <a:r>
              <a:rPr sz="1200" b="0">
                <a:solidFill>
                  <a:srgbClr val="F7F4EC"/>
                </a:solidFill>
              </a:rPr>
              <a:t>Matches 12% of Sep 1-8 (13/111)</a:t>
            </a:r>
          </a:p>
        </p:txBody>
      </p:sp>
      <p:sp>
        <p:nvSpPr>
          <p:cNvPr id="13" name="">
            <a:extLst xmlns:a="http://schemas.openxmlformats.org/drawingml/2006/main">
              <a:ext uri="{FF2B5EF4-FFF2-40B4-BE49-F238E27FC236}">
                <a16:creationId xmlns:a16="http://schemas.microsoft.com/office/drawing/2014/main" id="{D14C29A5-CF75-46EE-9D76-41A4CA93569F}"/>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E02E8F7E-22E1-4BD1-8BFD-38C18FD179EF}"/>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8%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1DEA5489-C196-4447-929D-F3AE0A651B78}"/>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A2303386-97F9-4CC7-95C7-1BA2C90EDF07}"/>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@sallytuffery69</a:t>
            </a:r>
          </a:p>
        </p:txBody>
      </p:sp>
      <p:sp>
        <p:nvSpPr>
          <p:cNvPr id="17" name="">
            <a:extLst xmlns:a="http://schemas.openxmlformats.org/drawingml/2006/main">
              <a:ext uri="{FF2B5EF4-FFF2-40B4-BE49-F238E27FC236}">
                <a16:creationId xmlns:a16="http://schemas.microsoft.com/office/drawing/2014/main" id="{052B91FD-4F11-4562-B30E-3293F0770151}"/>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D4262EB6-C683-4BC0-86D1-F230298E9531}"/>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19" name="">
            <a:extLst xmlns:a="http://schemas.openxmlformats.org/drawingml/2006/main">
              <a:ext uri="{FF2B5EF4-FFF2-40B4-BE49-F238E27FC236}">
                <a16:creationId xmlns:a16="http://schemas.microsoft.com/office/drawing/2014/main" id="{D8073955-4CF3-48D4-A7DD-13C4F493568A}"/>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29,135  |  Oct 1-8: 0</a:t>
            </a:r>
          </a:p>
        </p:txBody>
      </p:sp>
      <p:sp>
        <p:nvSpPr>
          <p:cNvPr id="20" name="">
            <a:extLst xmlns:a="http://schemas.openxmlformats.org/drawingml/2006/main">
              <a:ext uri="{FF2B5EF4-FFF2-40B4-BE49-F238E27FC236}">
                <a16:creationId xmlns:a16="http://schemas.microsoft.com/office/drawing/2014/main" id="{B593EFC4-2DE7-47D2-B4DE-221A8D674A7D}"/>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DFFA3B57-2980-49E8-8226-37413BE4853C}"/>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No October activity</a:t>
            </a:r>
          </a:p>
        </p:txBody>
      </p:sp>
      <p:sp>
        <p:nvSpPr>
          <p:cNvPr id="22" name="">
            <a:extLst xmlns:a="http://schemas.openxmlformats.org/drawingml/2006/main">
              <a:ext uri="{FF2B5EF4-FFF2-40B4-BE49-F238E27FC236}">
                <a16:creationId xmlns:a16="http://schemas.microsoft.com/office/drawing/2014/main" id="{7FF432AD-876D-4E5E-92A8-39FD0CBCB7CB}"/>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DC69912C-08BF-455F-B2A7-0C4F8E9E69A5}"/>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This creator has not earned diamonds in October. Contact them today to confirm they are active, find out what is stopping them from going live, and agree their next scheduled live.</a:t>
            </a:r>
          </a:p>
        </p:txBody>
      </p:sp>
      <p:sp>
        <p:nvSpPr>
          <p:cNvPr id="24" name="">
            <a:extLst xmlns:a="http://schemas.openxmlformats.org/drawingml/2006/main">
              <a:ext uri="{FF2B5EF4-FFF2-40B4-BE49-F238E27FC236}">
                <a16:creationId xmlns:a16="http://schemas.microsoft.com/office/drawing/2014/main" id="{3C12B36B-714F-4961-9EF3-EDD49D05F2FB}"/>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5</a:t>
            </a:r>
          </a:p>
        </p:txBody>
      </p:sp>
    </p:spTree>
    <p:extLst>
      <p:ext uri="{BB962C8B-B14F-4D97-AF65-F5344CB8AC3E}">
        <p14:creationId xmlns:p14="http://schemas.microsoft.com/office/powerpoint/2010/main" val="531311586"/>
      </p:ext>
    </p:extLst>
  </p:cSld>
</p:sld>
</file>

<file path=ppt/slides/slide6.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731FB0A-D2F7-4CB7-AC96-FC0B17C72741}"/>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02EAA929-906A-4B36-B6F7-151AB757832A}"/>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86E581E9-6D93-4117-AEB7-8C5899276EBB}"/>
              </a:ext>
            </a:extLst>
          </p:cNvPr>
          <p:cNvPicPr>
            <a:picLocks xmlns:a="http://schemas.openxmlformats.org/drawingml/2006/main" noChangeAspect="1"/>
          </p:cNvPicPr>
          <p:nvPr/>
        </p:nvPicPr>
        <p:blipFill>
          <a:blip xmlns:r="http://schemas.openxmlformats.org/officeDocument/2006/relationships" xmlns:a="http://schemas.openxmlformats.org/drawingml/2006/main" r:embed="R612acdd4b3b84c70"/>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CA8DF34-B1E9-43B5-81EB-9DA62B69AB48}"/>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cjtokens1237@gmail.com</a:t>
            </a:r>
          </a:p>
        </p:txBody>
      </p:sp>
      <p:sp>
        <p:nvSpPr>
          <p:cNvPr id="5" name="">
            <a:extLst xmlns:a="http://schemas.openxmlformats.org/drawingml/2006/main">
              <a:ext uri="{FF2B5EF4-FFF2-40B4-BE49-F238E27FC236}">
                <a16:creationId xmlns:a16="http://schemas.microsoft.com/office/drawing/2014/main" id="{DFCF76F1-E0E4-4E7A-96C2-DAD4A7367891}"/>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3CF3C8F5-E991-43C3-87DC-441826213A15}"/>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09854AB2-30B7-4B63-8AFC-7D356AEE529D}"/>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@ace.t176</a:t>
            </a:r>
          </a:p>
        </p:txBody>
      </p:sp>
      <p:sp>
        <p:nvSpPr>
          <p:cNvPr id="8" name="">
            <a:extLst xmlns:a="http://schemas.openxmlformats.org/drawingml/2006/main">
              <a:ext uri="{FF2B5EF4-FFF2-40B4-BE49-F238E27FC236}">
                <a16:creationId xmlns:a16="http://schemas.microsoft.com/office/drawing/2014/main" id="{3122E16F-B4C3-4F30-93D1-D6AB5133E8C5}"/>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A1EC5EF4-2A1E-4478-810B-D91B1B7CF00D}"/>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10" name="">
            <a:extLst xmlns:a="http://schemas.openxmlformats.org/drawingml/2006/main">
              <a:ext uri="{FF2B5EF4-FFF2-40B4-BE49-F238E27FC236}">
                <a16:creationId xmlns:a16="http://schemas.microsoft.com/office/drawing/2014/main" id="{4CE34A76-7C33-4DAC-9F68-3591F16C3794}"/>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46,177  |  Oct 1-8: 0</a:t>
            </a:r>
          </a:p>
        </p:txBody>
      </p:sp>
      <p:sp>
        <p:nvSpPr>
          <p:cNvPr id="11" name="">
            <a:extLst xmlns:a="http://schemas.openxmlformats.org/drawingml/2006/main">
              <a:ext uri="{FF2B5EF4-FFF2-40B4-BE49-F238E27FC236}">
                <a16:creationId xmlns:a16="http://schemas.microsoft.com/office/drawing/2014/main" id="{A09C8A35-7666-4224-ACF4-0F968BB825E2}"/>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D48EF6EB-0028-470B-93AB-3E5C101A16A5}"/>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No October activity</a:t>
            </a:r>
          </a:p>
        </p:txBody>
      </p:sp>
      <p:sp>
        <p:nvSpPr>
          <p:cNvPr id="13" name="">
            <a:extLst xmlns:a="http://schemas.openxmlformats.org/drawingml/2006/main">
              <a:ext uri="{FF2B5EF4-FFF2-40B4-BE49-F238E27FC236}">
                <a16:creationId xmlns:a16="http://schemas.microsoft.com/office/drawing/2014/main" id="{9D54C661-F4F9-4AF4-A8A7-D286236F284B}"/>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3F50287E-92A8-40F7-8973-321E440ADC50}"/>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This creator has not earned diamonds in October. Contact them today to confirm they are active, find out what is stopping them from going live, and agree their next scheduled live.</a:t>
            </a:r>
          </a:p>
        </p:txBody>
      </p:sp>
      <p:sp>
        <p:nvSpPr>
          <p:cNvPr id="15" name="">
            <a:extLst xmlns:a="http://schemas.openxmlformats.org/drawingml/2006/main">
              <a:ext uri="{FF2B5EF4-FFF2-40B4-BE49-F238E27FC236}">
                <a16:creationId xmlns:a16="http://schemas.microsoft.com/office/drawing/2014/main" id="{40E4831C-1180-440B-98F2-A93954628A74}"/>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24E5FF53-B5A2-46DD-8E27-1A469C035C25}"/>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@liambamford18</a:t>
            </a:r>
          </a:p>
        </p:txBody>
      </p:sp>
      <p:sp>
        <p:nvSpPr>
          <p:cNvPr id="17" name="">
            <a:extLst xmlns:a="http://schemas.openxmlformats.org/drawingml/2006/main">
              <a:ext uri="{FF2B5EF4-FFF2-40B4-BE49-F238E27FC236}">
                <a16:creationId xmlns:a16="http://schemas.microsoft.com/office/drawing/2014/main" id="{6D7B3220-2EC0-43BE-9A39-E4809ED728AF}"/>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C816D335-C0F5-4E6E-A74D-7AFC14C24924}"/>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19" name="">
            <a:extLst xmlns:a="http://schemas.openxmlformats.org/drawingml/2006/main">
              <a:ext uri="{FF2B5EF4-FFF2-40B4-BE49-F238E27FC236}">
                <a16:creationId xmlns:a16="http://schemas.microsoft.com/office/drawing/2014/main" id="{DBA53044-4479-47AC-A0B7-EA66EFF1F32B}"/>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38,625  |  Oct 1-8: 0</a:t>
            </a:r>
          </a:p>
        </p:txBody>
      </p:sp>
      <p:sp>
        <p:nvSpPr>
          <p:cNvPr id="20" name="">
            <a:extLst xmlns:a="http://schemas.openxmlformats.org/drawingml/2006/main">
              <a:ext uri="{FF2B5EF4-FFF2-40B4-BE49-F238E27FC236}">
                <a16:creationId xmlns:a16="http://schemas.microsoft.com/office/drawing/2014/main" id="{CCE0DFAB-E818-41A2-AB56-DA14C1F3FC80}"/>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920CE152-7F6E-4197-A87B-D08D855DD90C}"/>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No October activity</a:t>
            </a:r>
          </a:p>
        </p:txBody>
      </p:sp>
      <p:sp>
        <p:nvSpPr>
          <p:cNvPr id="22" name="">
            <a:extLst xmlns:a="http://schemas.openxmlformats.org/drawingml/2006/main">
              <a:ext uri="{FF2B5EF4-FFF2-40B4-BE49-F238E27FC236}">
                <a16:creationId xmlns:a16="http://schemas.microsoft.com/office/drawing/2014/main" id="{F6962986-34E8-46D5-A4E2-8103B7A36095}"/>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EC867120-7457-4D7B-8855-5A24D66C6FF3}"/>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This creator has not earned diamonds in October. Contact them today to confirm they are active, find out what is stopping them from going live, and agree their next scheduled live.</a:t>
            </a:r>
          </a:p>
        </p:txBody>
      </p:sp>
      <p:sp>
        <p:nvSpPr>
          <p:cNvPr id="24" name="">
            <a:extLst xmlns:a="http://schemas.openxmlformats.org/drawingml/2006/main">
              <a:ext uri="{FF2B5EF4-FFF2-40B4-BE49-F238E27FC236}">
                <a16:creationId xmlns:a16="http://schemas.microsoft.com/office/drawing/2014/main" id="{C2964967-B6B4-45DD-83B0-A927609CDC41}"/>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6</a:t>
            </a:r>
          </a:p>
        </p:txBody>
      </p:sp>
    </p:spTree>
    <p:extLst>
      <p:ext uri="{BB962C8B-B14F-4D97-AF65-F5344CB8AC3E}">
        <p14:creationId xmlns:p14="http://schemas.microsoft.com/office/powerpoint/2010/main" val="781722699"/>
      </p:ext>
    </p:extLst>
  </p:cSld>
</p:sld>
</file>

<file path=ppt/slides/slide7.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3F81A3F-6F06-4B88-872F-208DE638E167}"/>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00B10FBD-E218-4743-A66D-F718E62B4F7B}"/>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1DC9463A-1BAD-4112-AF77-E3171B062489}"/>
              </a:ext>
            </a:extLst>
          </p:cNvPr>
          <p:cNvPicPr>
            <a:picLocks xmlns:a="http://schemas.openxmlformats.org/drawingml/2006/main" noChangeAspect="1"/>
          </p:cNvPicPr>
          <p:nvPr/>
        </p:nvPicPr>
        <p:blipFill>
          <a:blip xmlns:r="http://schemas.openxmlformats.org/officeDocument/2006/relationships" xmlns:a="http://schemas.openxmlformats.org/drawingml/2006/main" r:embed="R70e0f178c2d54a90"/>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71472B1-CB2B-48DA-AB0F-ADBF37CBC416}"/>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firstclassagency_ash@outlook.com</a:t>
            </a:r>
          </a:p>
        </p:txBody>
      </p:sp>
      <p:sp>
        <p:nvSpPr>
          <p:cNvPr id="5" name="">
            <a:extLst xmlns:a="http://schemas.openxmlformats.org/drawingml/2006/main">
              <a:ext uri="{FF2B5EF4-FFF2-40B4-BE49-F238E27FC236}">
                <a16:creationId xmlns:a16="http://schemas.microsoft.com/office/drawing/2014/main" id="{7CBC619D-4121-4794-AD5F-69468694BBB8}"/>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EAF1EA00-0697-45EA-9AE8-A5A6AAACCE00}"/>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2663ED14-3D81-4117-A2F1-6231A4FE548B}"/>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@rhir3a</a:t>
            </a:r>
          </a:p>
        </p:txBody>
      </p:sp>
      <p:sp>
        <p:nvSpPr>
          <p:cNvPr id="8" name="">
            <a:extLst xmlns:a="http://schemas.openxmlformats.org/drawingml/2006/main">
              <a:ext uri="{FF2B5EF4-FFF2-40B4-BE49-F238E27FC236}">
                <a16:creationId xmlns:a16="http://schemas.microsoft.com/office/drawing/2014/main" id="{96AB4720-446F-4B08-AA7F-16924E709DF6}"/>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4477A4B9-134C-4A94-AD67-DD3E2D1B8327}"/>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-58%</a:t>
            </a:r>
          </a:p>
        </p:txBody>
      </p:sp>
      <p:sp>
        <p:nvSpPr>
          <p:cNvPr id="10" name="">
            <a:extLst xmlns:a="http://schemas.openxmlformats.org/drawingml/2006/main">
              <a:ext uri="{FF2B5EF4-FFF2-40B4-BE49-F238E27FC236}">
                <a16:creationId xmlns:a16="http://schemas.microsoft.com/office/drawing/2014/main" id="{D64CBA75-9C3D-4080-B902-4E977E7B94AD}"/>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90,608  |  Oct 1-8: 38,498</a:t>
            </a:r>
          </a:p>
        </p:txBody>
      </p:sp>
      <p:sp>
        <p:nvSpPr>
          <p:cNvPr id="11" name="">
            <a:extLst xmlns:a="http://schemas.openxmlformats.org/drawingml/2006/main">
              <a:ext uri="{FF2B5EF4-FFF2-40B4-BE49-F238E27FC236}">
                <a16:creationId xmlns:a16="http://schemas.microsoft.com/office/drawing/2014/main" id="{E4198077-2D9D-4990-BCFF-446B7D5338D2}"/>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68E798DD-8CC7-4722-839A-B8A6CE5800F6}"/>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Matches 42% of Sep 1-8 (83/196)</a:t>
            </a:r>
          </a:p>
          <a:p xmlns:a="http://schemas.openxmlformats.org/drawingml/2006/main">
            <a:pPr>
              <a:defRPr sz="1200" b="0">
                <a:solidFill>
                  <a:srgbClr val="F7F4EC"/>
                </a:solidFill>
              </a:defRPr>
            </a:pPr>
            <a:r>
              <a:rPr sz="1200" b="0">
                <a:solidFill>
                  <a:srgbClr val="F7F4EC"/>
                </a:solidFill>
              </a:rPr>
              <a:t>Diamonds 42% of Sep 1-8 (38.5k/90.6k)</a:t>
            </a:r>
          </a:p>
        </p:txBody>
      </p:sp>
      <p:sp>
        <p:nvSpPr>
          <p:cNvPr id="13" name="">
            <a:extLst xmlns:a="http://schemas.openxmlformats.org/drawingml/2006/main">
              <a:ext uri="{FF2B5EF4-FFF2-40B4-BE49-F238E27FC236}">
                <a16:creationId xmlns:a16="http://schemas.microsoft.com/office/drawing/2014/main" id="{C44C2654-1099-4A70-8ED5-41635D2CE766}"/>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39D544CE-24D4-42AA-BBB7-651D54A80863}"/>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83%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97CCE097-F6EF-48FB-BABA-D6176DE376A1}"/>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142B98B7-23AE-46AF-8F53-B9EC1EC1432A}"/>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@soph.x19x</a:t>
            </a:r>
          </a:p>
        </p:txBody>
      </p:sp>
      <p:sp>
        <p:nvSpPr>
          <p:cNvPr id="17" name="">
            <a:extLst xmlns:a="http://schemas.openxmlformats.org/drawingml/2006/main">
              <a:ext uri="{FF2B5EF4-FFF2-40B4-BE49-F238E27FC236}">
                <a16:creationId xmlns:a16="http://schemas.microsoft.com/office/drawing/2014/main" id="{64BEECC7-98D2-45D4-8650-711C354870A1}"/>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FF9E86B0-CC99-42CF-98CA-E75C44AD85D4}"/>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-32%</a:t>
            </a:r>
          </a:p>
        </p:txBody>
      </p:sp>
      <p:sp>
        <p:nvSpPr>
          <p:cNvPr id="19" name="">
            <a:extLst xmlns:a="http://schemas.openxmlformats.org/drawingml/2006/main">
              <a:ext uri="{FF2B5EF4-FFF2-40B4-BE49-F238E27FC236}">
                <a16:creationId xmlns:a16="http://schemas.microsoft.com/office/drawing/2014/main" id="{B264B403-7EE3-4E14-9705-3454333C47BE}"/>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131,331  |  Oct 1-8: 89,278</a:t>
            </a:r>
          </a:p>
        </p:txBody>
      </p:sp>
      <p:sp>
        <p:nvSpPr>
          <p:cNvPr id="20" name="">
            <a:extLst xmlns:a="http://schemas.openxmlformats.org/drawingml/2006/main">
              <a:ext uri="{FF2B5EF4-FFF2-40B4-BE49-F238E27FC236}">
                <a16:creationId xmlns:a16="http://schemas.microsoft.com/office/drawing/2014/main" id="{8D0740BB-F184-42FC-84FB-8F4E32B2726B}"/>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0BAB9504-53DE-4BC0-8DA3-C2F6BC1B2EA0}"/>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Hours 65% of Sep 1-8 (17h/27h)</a:t>
            </a:r>
          </a:p>
          <a:p xmlns:a="http://schemas.openxmlformats.org/drawingml/2006/main">
            <a:pPr>
              <a:defRPr sz="1200" b="0">
                <a:solidFill>
                  <a:srgbClr val="F7F4EC"/>
                </a:solidFill>
              </a:defRPr>
            </a:pPr>
            <a:r>
              <a:rPr sz="1200" b="0">
                <a:solidFill>
                  <a:srgbClr val="F7F4EC"/>
                </a:solidFill>
              </a:rPr>
              <a:t>Matches 57% of Sep 1-8 (101/176)</a:t>
            </a:r>
          </a:p>
        </p:txBody>
      </p:sp>
      <p:sp>
        <p:nvSpPr>
          <p:cNvPr id="22" name="">
            <a:extLst xmlns:a="http://schemas.openxmlformats.org/drawingml/2006/main">
              <a:ext uri="{FF2B5EF4-FFF2-40B4-BE49-F238E27FC236}">
                <a16:creationId xmlns:a16="http://schemas.microsoft.com/office/drawing/2014/main" id="{BB27853D-2FE8-4475-9122-A1CB7836690A}"/>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77C1456A-1D36-4E02-BF87-DC4E1C2865B5}"/>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65%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10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7305628B-912D-4A80-8D9A-86D9821B1807}"/>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7</a:t>
            </a:r>
          </a:p>
        </p:txBody>
      </p:sp>
    </p:spTree>
    <p:extLst>
      <p:ext uri="{BB962C8B-B14F-4D97-AF65-F5344CB8AC3E}">
        <p14:creationId xmlns:p14="http://schemas.microsoft.com/office/powerpoint/2010/main" val="736937781"/>
      </p:ext>
    </p:extLst>
  </p:cSld>
</p:sld>
</file>

<file path=ppt/slides/slide8.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462C192-842F-42F5-AA93-F1A70D969204}"/>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E9C45846-1963-4AA2-B599-EC7E3F5246E7}"/>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8B89D6BA-1C0D-460D-ADED-34D44AF4588C}"/>
              </a:ext>
            </a:extLst>
          </p:cNvPr>
          <p:cNvPicPr>
            <a:picLocks xmlns:a="http://schemas.openxmlformats.org/drawingml/2006/main" noChangeAspect="1"/>
          </p:cNvPicPr>
          <p:nvPr/>
        </p:nvPicPr>
        <p:blipFill>
          <a:blip xmlns:r="http://schemas.openxmlformats.org/officeDocument/2006/relationships" xmlns:a="http://schemas.openxmlformats.org/drawingml/2006/main" r:embed="R00faa439856c4cce"/>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BB4EA43-D30A-4C46-B4D6-AFC8F6AE4CDE}"/>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72E3DEA1-81CC-4C54-9690-ACA44343F07A}"/>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1E466079-248D-479F-B7DC-0AE3115BA7B3}"/>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04F733C4-FB6C-4727-9ADB-1146750BE726}"/>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@dylanjinks</a:t>
            </a:r>
          </a:p>
        </p:txBody>
      </p:sp>
      <p:sp>
        <p:nvSpPr>
          <p:cNvPr id="8" name="">
            <a:extLst xmlns:a="http://schemas.openxmlformats.org/drawingml/2006/main">
              <a:ext uri="{FF2B5EF4-FFF2-40B4-BE49-F238E27FC236}">
                <a16:creationId xmlns:a16="http://schemas.microsoft.com/office/drawing/2014/main" id="{14359F97-1E89-4D8B-BFF5-A7498EDE55F8}"/>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945A28B3-6021-4704-8B72-620102286C79}"/>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-73%</a:t>
            </a:r>
          </a:p>
        </p:txBody>
      </p:sp>
      <p:sp>
        <p:nvSpPr>
          <p:cNvPr id="10" name="">
            <a:extLst xmlns:a="http://schemas.openxmlformats.org/drawingml/2006/main">
              <a:ext uri="{FF2B5EF4-FFF2-40B4-BE49-F238E27FC236}">
                <a16:creationId xmlns:a16="http://schemas.microsoft.com/office/drawing/2014/main" id="{8C52AB6E-928A-4CF4-AF1D-7106012928AC}"/>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490,102  |  Oct 1-8: 130,340</a:t>
            </a:r>
          </a:p>
        </p:txBody>
      </p:sp>
      <p:sp>
        <p:nvSpPr>
          <p:cNvPr id="11" name="">
            <a:extLst xmlns:a="http://schemas.openxmlformats.org/drawingml/2006/main">
              <a:ext uri="{FF2B5EF4-FFF2-40B4-BE49-F238E27FC236}">
                <a16:creationId xmlns:a16="http://schemas.microsoft.com/office/drawing/2014/main" id="{A639DAFF-A24C-4498-802F-A2AD74F9138E}"/>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FE17B5A0-C434-46CF-B401-DE99D6433015}"/>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27% of Sep 1-8 (130.3k/490.1k)</a:t>
            </a:r>
          </a:p>
          <a:p xmlns:a="http://schemas.openxmlformats.org/drawingml/2006/main">
            <a:pPr>
              <a:defRPr sz="1200" b="0">
                <a:solidFill>
                  <a:srgbClr val="F7F4EC"/>
                </a:solidFill>
              </a:defRPr>
            </a:pPr>
            <a:r>
              <a:rPr sz="1200" b="0">
                <a:solidFill>
                  <a:srgbClr val="F7F4EC"/>
                </a:solidFill>
              </a:rPr>
              <a:t>Hours 72% of Sep 1-8 (21h/30h)</a:t>
            </a:r>
          </a:p>
        </p:txBody>
      </p:sp>
      <p:sp>
        <p:nvSpPr>
          <p:cNvPr id="13" name="">
            <a:extLst xmlns:a="http://schemas.openxmlformats.org/drawingml/2006/main">
              <a:ext uri="{FF2B5EF4-FFF2-40B4-BE49-F238E27FC236}">
                <a16:creationId xmlns:a16="http://schemas.microsoft.com/office/drawing/2014/main" id="{6FA40CFB-94B0-401A-88F9-B487B74A8694}"/>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FD7F1ED8-0563-4EE5-A457-CE893CC1ABA1}"/>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72%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01712CE4-255D-4A41-B19B-171776F9F235}"/>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5F5F4EA8-3CDC-49AC-98D4-4944D21F9BCB}"/>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@allannah.unknown444</a:t>
            </a:r>
          </a:p>
        </p:txBody>
      </p:sp>
      <p:sp>
        <p:nvSpPr>
          <p:cNvPr id="17" name="">
            <a:extLst xmlns:a="http://schemas.openxmlformats.org/drawingml/2006/main">
              <a:ext uri="{FF2B5EF4-FFF2-40B4-BE49-F238E27FC236}">
                <a16:creationId xmlns:a16="http://schemas.microsoft.com/office/drawing/2014/main" id="{EE8B535C-5A97-4D92-B3E8-1E6935635702}"/>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80F1442F-9715-437B-A744-E9B93F7EDAC7}"/>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-69%</a:t>
            </a:r>
          </a:p>
        </p:txBody>
      </p:sp>
      <p:sp>
        <p:nvSpPr>
          <p:cNvPr id="19" name="">
            <a:extLst xmlns:a="http://schemas.openxmlformats.org/drawingml/2006/main">
              <a:ext uri="{FF2B5EF4-FFF2-40B4-BE49-F238E27FC236}">
                <a16:creationId xmlns:a16="http://schemas.microsoft.com/office/drawing/2014/main" id="{0A7150FF-2C14-4BD3-9033-078BC7C8514A}"/>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425,887  |  Oct 1-8: 130,951</a:t>
            </a:r>
          </a:p>
        </p:txBody>
      </p:sp>
      <p:sp>
        <p:nvSpPr>
          <p:cNvPr id="20" name="">
            <a:extLst xmlns:a="http://schemas.openxmlformats.org/drawingml/2006/main">
              <a:ext uri="{FF2B5EF4-FFF2-40B4-BE49-F238E27FC236}">
                <a16:creationId xmlns:a16="http://schemas.microsoft.com/office/drawing/2014/main" id="{E012CE6E-2CB9-4ED1-AE91-8CDDCD5B61BC}"/>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65FAAAB5-1594-41C0-BD3B-BBE07A1B4AD1}"/>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31% of Sep 1-8 (131.0k/425.9k)</a:t>
            </a:r>
          </a:p>
          <a:p xmlns:a="http://schemas.openxmlformats.org/drawingml/2006/main">
            <a:pPr>
              <a:defRPr sz="1200" b="0">
                <a:solidFill>
                  <a:srgbClr val="F7F4EC"/>
                </a:solidFill>
              </a:defRPr>
            </a:pPr>
            <a:r>
              <a:rPr sz="1200" b="0">
                <a:solidFill>
                  <a:srgbClr val="F7F4EC"/>
                </a:solidFill>
              </a:rPr>
              <a:t>Matches 46% of Sep 1-8 (138/301)</a:t>
            </a:r>
          </a:p>
        </p:txBody>
      </p:sp>
      <p:sp>
        <p:nvSpPr>
          <p:cNvPr id="22" name="">
            <a:extLst xmlns:a="http://schemas.openxmlformats.org/drawingml/2006/main">
              <a:ext uri="{FF2B5EF4-FFF2-40B4-BE49-F238E27FC236}">
                <a16:creationId xmlns:a16="http://schemas.microsoft.com/office/drawing/2014/main" id="{7CC7EFC7-11FC-4F96-8590-49FB1112C180}"/>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065C930D-1E3F-4730-812B-6038D1824BCF}"/>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67%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B81ABB22-C5BB-44A1-BCDE-00BD7FBB01CC}"/>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8</a:t>
            </a:r>
          </a:p>
        </p:txBody>
      </p:sp>
    </p:spTree>
    <p:extLst>
      <p:ext uri="{BB962C8B-B14F-4D97-AF65-F5344CB8AC3E}">
        <p14:creationId xmlns:p14="http://schemas.microsoft.com/office/powerpoint/2010/main" val="682833499"/>
      </p:ext>
    </p:extLst>
  </p:cSld>
</p:sld>
</file>

<file path=ppt/slides/slide9.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6574267-9EDB-4F4B-8D7B-C535E485B9E7}"/>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BC146B8F-E01D-47C5-A92C-14EC17D0AF2A}"/>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8AC74F60-EAA3-4D32-8EA8-ED7668AADC78}"/>
              </a:ext>
            </a:extLst>
          </p:cNvPr>
          <p:cNvPicPr>
            <a:picLocks xmlns:a="http://schemas.openxmlformats.org/drawingml/2006/main" noChangeAspect="1"/>
          </p:cNvPicPr>
          <p:nvPr/>
        </p:nvPicPr>
        <p:blipFill>
          <a:blip xmlns:r="http://schemas.openxmlformats.org/officeDocument/2006/relationships" xmlns:a="http://schemas.openxmlformats.org/drawingml/2006/main" r:embed="R67d123e5cbff4342"/>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40E2ABF-AC93-4D15-8578-AFF2291F7286}"/>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12257E2B-F511-4E5A-9A8C-676FE909D1A2}"/>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B9F4DE77-5061-4B74-AEC1-0CCF474BB407}"/>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FB92403C-BAE7-4AB8-9551-7250164972C6}"/>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@xomarky</a:t>
            </a:r>
          </a:p>
        </p:txBody>
      </p:sp>
      <p:sp>
        <p:nvSpPr>
          <p:cNvPr id="8" name="">
            <a:extLst xmlns:a="http://schemas.openxmlformats.org/drawingml/2006/main">
              <a:ext uri="{FF2B5EF4-FFF2-40B4-BE49-F238E27FC236}">
                <a16:creationId xmlns:a16="http://schemas.microsoft.com/office/drawing/2014/main" id="{76AA8B94-0CF8-4707-ADD2-57A3FBBA8E02}"/>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B03A4870-90C1-41E1-867C-5DB235ADB3C0}"/>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-77%</a:t>
            </a:r>
          </a:p>
        </p:txBody>
      </p:sp>
      <p:sp>
        <p:nvSpPr>
          <p:cNvPr id="10" name="">
            <a:extLst xmlns:a="http://schemas.openxmlformats.org/drawingml/2006/main">
              <a:ext uri="{FF2B5EF4-FFF2-40B4-BE49-F238E27FC236}">
                <a16:creationId xmlns:a16="http://schemas.microsoft.com/office/drawing/2014/main" id="{06C2EB66-10AF-448A-98D9-42C1A7137412}"/>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222,795  |  Oct 1-8: 52,229</a:t>
            </a:r>
          </a:p>
        </p:txBody>
      </p:sp>
      <p:sp>
        <p:nvSpPr>
          <p:cNvPr id="11" name="">
            <a:extLst xmlns:a="http://schemas.openxmlformats.org/drawingml/2006/main">
              <a:ext uri="{FF2B5EF4-FFF2-40B4-BE49-F238E27FC236}">
                <a16:creationId xmlns:a16="http://schemas.microsoft.com/office/drawing/2014/main" id="{4F277A86-0966-4CF1-8ADE-8CB3F9371310}"/>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3D5AFBFD-AF0A-485B-A63D-B2256C30EC60}"/>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Matches 25% of Sep 1-8 (65/264)</a:t>
            </a:r>
          </a:p>
          <a:p xmlns:a="http://schemas.openxmlformats.org/drawingml/2006/main">
            <a:pPr>
              <a:defRPr sz="1200" b="0">
                <a:solidFill>
                  <a:srgbClr val="F7F4EC"/>
                </a:solidFill>
              </a:defRPr>
            </a:pPr>
            <a:r>
              <a:rPr sz="1200" b="0">
                <a:solidFill>
                  <a:srgbClr val="F7F4EC"/>
                </a:solidFill>
              </a:rPr>
              <a:t>Diamonds 23% of Sep 1-8 (52.2k/222.8k)</a:t>
            </a:r>
          </a:p>
        </p:txBody>
      </p:sp>
      <p:sp>
        <p:nvSpPr>
          <p:cNvPr id="13" name="">
            <a:extLst xmlns:a="http://schemas.openxmlformats.org/drawingml/2006/main">
              <a:ext uri="{FF2B5EF4-FFF2-40B4-BE49-F238E27FC236}">
                <a16:creationId xmlns:a16="http://schemas.microsoft.com/office/drawing/2014/main" id="{0C0F7847-EC86-4F0C-9002-49C66CFED6A6}"/>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AE32A3C5-B7D2-4702-BA23-497DE16490E2}"/>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66%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04744A3C-20A7-4D93-8734-86B26E93000C}"/>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074D30EC-B320-49E5-89C7-A10E1CD3D9EC}"/>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@flexzontik</a:t>
            </a:r>
          </a:p>
        </p:txBody>
      </p:sp>
      <p:sp>
        <p:nvSpPr>
          <p:cNvPr id="17" name="">
            <a:extLst xmlns:a="http://schemas.openxmlformats.org/drawingml/2006/main">
              <a:ext uri="{FF2B5EF4-FFF2-40B4-BE49-F238E27FC236}">
                <a16:creationId xmlns:a16="http://schemas.microsoft.com/office/drawing/2014/main" id="{B479CC01-CBF6-4AAA-AE85-2509C2847950}"/>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2E18EC58-E720-46E9-B332-7F800BD391E8}"/>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-96%</a:t>
            </a:r>
          </a:p>
        </p:txBody>
      </p:sp>
      <p:sp>
        <p:nvSpPr>
          <p:cNvPr id="19" name="">
            <a:extLst xmlns:a="http://schemas.openxmlformats.org/drawingml/2006/main">
              <a:ext uri="{FF2B5EF4-FFF2-40B4-BE49-F238E27FC236}">
                <a16:creationId xmlns:a16="http://schemas.microsoft.com/office/drawing/2014/main" id="{4B4EC208-AD38-4C23-8CAD-D0F9103E4F86}"/>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148,355  |  Oct 1-8: 5,498</a:t>
            </a:r>
          </a:p>
        </p:txBody>
      </p:sp>
      <p:sp>
        <p:nvSpPr>
          <p:cNvPr id="20" name="">
            <a:extLst xmlns:a="http://schemas.openxmlformats.org/drawingml/2006/main">
              <a:ext uri="{FF2B5EF4-FFF2-40B4-BE49-F238E27FC236}">
                <a16:creationId xmlns:a16="http://schemas.microsoft.com/office/drawing/2014/main" id="{E80FFE31-88E4-4529-8A8B-BC84951FF6C7}"/>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1EF4A102-E8A8-4BBD-AFE1-F0CFFA1E5DDE}"/>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4% of Sep 1-8 (5.5k/148.4k)</a:t>
            </a:r>
          </a:p>
          <a:p xmlns:a="http://schemas.openxmlformats.org/drawingml/2006/main">
            <a:pPr>
              <a:defRPr sz="1200" b="0">
                <a:solidFill>
                  <a:srgbClr val="F7F4EC"/>
                </a:solidFill>
              </a:defRPr>
            </a:pPr>
            <a:r>
              <a:rPr sz="1200" b="0">
                <a:solidFill>
                  <a:srgbClr val="F7F4EC"/>
                </a:solidFill>
              </a:rPr>
              <a:t>Hours 26% of Sep 1-8 (6h/21h)</a:t>
            </a:r>
          </a:p>
        </p:txBody>
      </p:sp>
      <p:sp>
        <p:nvSpPr>
          <p:cNvPr id="22" name="">
            <a:extLst xmlns:a="http://schemas.openxmlformats.org/drawingml/2006/main">
              <a:ext uri="{FF2B5EF4-FFF2-40B4-BE49-F238E27FC236}">
                <a16:creationId xmlns:a16="http://schemas.microsoft.com/office/drawing/2014/main" id="{BB1BBC55-4522-4F33-81B2-B29469A1A8BE}"/>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1F58E818-C574-4077-8363-5D53F449735F}"/>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26% of their September level. Ask what is stopping them from going live, then agree a realistic weekly live schedule and check it is followed.</a:t>
            </a:r>
          </a:p>
        </p:txBody>
      </p:sp>
      <p:sp>
        <p:nvSpPr>
          <p:cNvPr id="24" name="">
            <a:extLst xmlns:a="http://schemas.openxmlformats.org/drawingml/2006/main">
              <a:ext uri="{FF2B5EF4-FFF2-40B4-BE49-F238E27FC236}">
                <a16:creationId xmlns:a16="http://schemas.microsoft.com/office/drawing/2014/main" id="{B6F0D68E-B063-472B-A3F9-E1AA8B5A2A00}"/>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9</a:t>
            </a:r>
          </a:p>
        </p:txBody>
      </p:sp>
    </p:spTree>
    <p:extLst>
      <p:ext uri="{BB962C8B-B14F-4D97-AF65-F5344CB8AC3E}">
        <p14:creationId xmlns:p14="http://schemas.microsoft.com/office/powerpoint/2010/main" val="843621217"/>
      </p:ext>
    </p:extLst>
  </p:cSld>
</p:sld>
</file>

<file path=ppt/slides/slide10.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014D935-77A1-4119-AEB3-C32D47CEE49A}"/>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4C787AFC-01CE-4126-9A82-D669E4DB6526}"/>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D47C344C-D510-4B67-87A5-746720C3AF85}"/>
              </a:ext>
            </a:extLst>
          </p:cNvPr>
          <p:cNvPicPr>
            <a:picLocks xmlns:a="http://schemas.openxmlformats.org/drawingml/2006/main" noChangeAspect="1"/>
          </p:cNvPicPr>
          <p:nvPr/>
        </p:nvPicPr>
        <p:blipFill>
          <a:blip xmlns:r="http://schemas.openxmlformats.org/officeDocument/2006/relationships" xmlns:a="http://schemas.openxmlformats.org/drawingml/2006/main" r:embed="Rff531520b2fa46d6"/>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4CEE679-53C5-4AA4-B1E0-AFC87422FBDE}"/>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FE313FA8-3B9D-4020-B814-6C106FC78EDA}"/>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09189547-63DF-4BD7-96A4-7ACC7F8AF8F5}"/>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536BB515-95C5-4E75-9664-B93617A502D1}"/>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@lukebennett170.2</a:t>
            </a:r>
          </a:p>
        </p:txBody>
      </p:sp>
      <p:sp>
        <p:nvSpPr>
          <p:cNvPr id="8" name="">
            <a:extLst xmlns:a="http://schemas.openxmlformats.org/drawingml/2006/main">
              <a:ext uri="{FF2B5EF4-FFF2-40B4-BE49-F238E27FC236}">
                <a16:creationId xmlns:a16="http://schemas.microsoft.com/office/drawing/2014/main" id="{9183E292-DC18-446D-8B16-4CBEAE5CAA7E}"/>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6983AED1-197C-499A-88FF-B4C60AC896A7}"/>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-27%</a:t>
            </a:r>
          </a:p>
        </p:txBody>
      </p:sp>
      <p:sp>
        <p:nvSpPr>
          <p:cNvPr id="10" name="">
            <a:extLst xmlns:a="http://schemas.openxmlformats.org/drawingml/2006/main">
              <a:ext uri="{FF2B5EF4-FFF2-40B4-BE49-F238E27FC236}">
                <a16:creationId xmlns:a16="http://schemas.microsoft.com/office/drawing/2014/main" id="{4AE26E1C-E8DA-4B3D-8AC9-75C1F3EC0465}"/>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437,284  |  Oct 1-8: 321,126</a:t>
            </a:r>
          </a:p>
        </p:txBody>
      </p:sp>
      <p:sp>
        <p:nvSpPr>
          <p:cNvPr id="11" name="">
            <a:extLst xmlns:a="http://schemas.openxmlformats.org/drawingml/2006/main">
              <a:ext uri="{FF2B5EF4-FFF2-40B4-BE49-F238E27FC236}">
                <a16:creationId xmlns:a16="http://schemas.microsoft.com/office/drawing/2014/main" id="{141B82B2-C646-4249-BF93-78E5992D72F9}"/>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5ECDD9D5-08A6-4AB4-AE51-5F6D5DD8E83A}"/>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Same activity; diamonds 73% of Sep 1-8</a:t>
            </a:r>
          </a:p>
        </p:txBody>
      </p:sp>
      <p:sp>
        <p:nvSpPr>
          <p:cNvPr id="13" name="">
            <a:extLst xmlns:a="http://schemas.openxmlformats.org/drawingml/2006/main">
              <a:ext uri="{FF2B5EF4-FFF2-40B4-BE49-F238E27FC236}">
                <a16:creationId xmlns:a16="http://schemas.microsoft.com/office/drawing/2014/main" id="{72A241B5-7F8E-48F0-A303-5621CED02642}"/>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4FF15053-640A-438C-8665-622D404F0B9E}"/>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They are putting in similar live time but earning less. Review their visual quality, consistency, stream set-up and how they convert viewers while live.</a:t>
            </a:r>
          </a:p>
        </p:txBody>
      </p:sp>
      <p:sp>
        <p:nvSpPr>
          <p:cNvPr id="15" name="">
            <a:extLst xmlns:a="http://schemas.openxmlformats.org/drawingml/2006/main">
              <a:ext uri="{FF2B5EF4-FFF2-40B4-BE49-F238E27FC236}">
                <a16:creationId xmlns:a16="http://schemas.microsoft.com/office/drawing/2014/main" id="{EEE70C3A-9350-4EB8-9D03-862E79F6A8A8}"/>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A95104C1-B419-4357-A341-3DC9A69EFA0F}"/>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@libbyamberxoxo</a:t>
            </a:r>
          </a:p>
        </p:txBody>
      </p:sp>
      <p:sp>
        <p:nvSpPr>
          <p:cNvPr id="17" name="">
            <a:extLst xmlns:a="http://schemas.openxmlformats.org/drawingml/2006/main">
              <a:ext uri="{FF2B5EF4-FFF2-40B4-BE49-F238E27FC236}">
                <a16:creationId xmlns:a16="http://schemas.microsoft.com/office/drawing/2014/main" id="{5EE7861D-85E3-4099-BD95-D0257BD8D3F5}"/>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5ADF2DCE-0ED4-4043-B048-437AFAF81BCE}"/>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-68%</a:t>
            </a:r>
          </a:p>
        </p:txBody>
      </p:sp>
      <p:sp>
        <p:nvSpPr>
          <p:cNvPr id="19" name="">
            <a:extLst xmlns:a="http://schemas.openxmlformats.org/drawingml/2006/main">
              <a:ext uri="{FF2B5EF4-FFF2-40B4-BE49-F238E27FC236}">
                <a16:creationId xmlns:a16="http://schemas.microsoft.com/office/drawing/2014/main" id="{D0C0741C-B7FA-40EB-9306-86352C40CFE3}"/>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105,597  |  Oct 1-8: 33,458</a:t>
            </a:r>
          </a:p>
        </p:txBody>
      </p:sp>
      <p:sp>
        <p:nvSpPr>
          <p:cNvPr id="20" name="">
            <a:extLst xmlns:a="http://schemas.openxmlformats.org/drawingml/2006/main">
              <a:ext uri="{FF2B5EF4-FFF2-40B4-BE49-F238E27FC236}">
                <a16:creationId xmlns:a16="http://schemas.microsoft.com/office/drawing/2014/main" id="{B575F401-FC3C-4FF4-AE01-9E14D9905318}"/>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8D35EC35-C4FA-4195-AD42-F73037B44D42}"/>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Hours 35% of Sep 1-8 (7h/21h)</a:t>
            </a:r>
          </a:p>
          <a:p xmlns:a="http://schemas.openxmlformats.org/drawingml/2006/main">
            <a:pPr>
              <a:defRPr sz="1200" b="0">
                <a:solidFill>
                  <a:srgbClr val="F7F4EC"/>
                </a:solidFill>
              </a:defRPr>
            </a:pPr>
            <a:r>
              <a:rPr sz="1200" b="0">
                <a:solidFill>
                  <a:srgbClr val="F7F4EC"/>
                </a:solidFill>
              </a:rPr>
              <a:t>Diamonds 32% of Sep 1-8 (33.5k/105.6k)</a:t>
            </a:r>
          </a:p>
        </p:txBody>
      </p:sp>
      <p:sp>
        <p:nvSpPr>
          <p:cNvPr id="22" name="">
            <a:extLst xmlns:a="http://schemas.openxmlformats.org/drawingml/2006/main">
              <a:ext uri="{FF2B5EF4-FFF2-40B4-BE49-F238E27FC236}">
                <a16:creationId xmlns:a16="http://schemas.microsoft.com/office/drawing/2014/main" id="{7A074989-FCB1-41E3-B83B-F124C7EF44EE}"/>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6B7C8352-8CC0-455A-95F2-7432EE594111}"/>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35%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10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F7790AA7-550D-4C46-8919-F70A59F85FDC}"/>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10</a:t>
            </a:r>
          </a:p>
        </p:txBody>
      </p:sp>
    </p:spTree>
    <p:extLst>
      <p:ext uri="{BB962C8B-B14F-4D97-AF65-F5344CB8AC3E}">
        <p14:creationId xmlns:p14="http://schemas.microsoft.com/office/powerpoint/2010/main" val="183376416"/>
      </p:ext>
    </p:extLst>
  </p:cSld>
</p:sld>
</file>

<file path=ppt/slides/slide11.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CA4C55A-458B-4DA5-BBFF-B6CC16BF9E12}"/>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147F770B-3BB1-4D31-BB4E-D3ED34354C2A}"/>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B96BCDD6-619C-43DA-8E4F-F3242D54A851}"/>
              </a:ext>
            </a:extLst>
          </p:cNvPr>
          <p:cNvPicPr>
            <a:picLocks xmlns:a="http://schemas.openxmlformats.org/drawingml/2006/main" noChangeAspect="1"/>
          </p:cNvPicPr>
          <p:nvPr/>
        </p:nvPicPr>
        <p:blipFill>
          <a:blip xmlns:r="http://schemas.openxmlformats.org/officeDocument/2006/relationships" xmlns:a="http://schemas.openxmlformats.org/drawingml/2006/main" r:embed="Ra6d3963378064b91"/>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6104046-0873-4371-9759-6C9E78078F1D}"/>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30810108-5359-44E3-9987-BD004F812BDC}"/>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61F677E6-1924-4EFD-AACD-ED51525AD921}"/>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BF8F4460-A264-4D5D-9333-EEDB94FA84E7}"/>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@lucylou449</a:t>
            </a:r>
          </a:p>
        </p:txBody>
      </p:sp>
      <p:sp>
        <p:nvSpPr>
          <p:cNvPr id="8" name="">
            <a:extLst xmlns:a="http://schemas.openxmlformats.org/drawingml/2006/main">
              <a:ext uri="{FF2B5EF4-FFF2-40B4-BE49-F238E27FC236}">
                <a16:creationId xmlns:a16="http://schemas.microsoft.com/office/drawing/2014/main" id="{18405479-6EA1-490E-9938-D002C3CBB347}"/>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026F02CA-F64C-4FF5-9309-371CE21E5427}"/>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-68%</a:t>
            </a:r>
          </a:p>
        </p:txBody>
      </p:sp>
      <p:sp>
        <p:nvSpPr>
          <p:cNvPr id="10" name="">
            <a:extLst xmlns:a="http://schemas.openxmlformats.org/drawingml/2006/main">
              <a:ext uri="{FF2B5EF4-FFF2-40B4-BE49-F238E27FC236}">
                <a16:creationId xmlns:a16="http://schemas.microsoft.com/office/drawing/2014/main" id="{2C3E1916-852D-4455-A97D-FCCDBCAB9338}"/>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88,792  |  Oct 1-8: 28,601</a:t>
            </a:r>
          </a:p>
        </p:txBody>
      </p:sp>
      <p:sp>
        <p:nvSpPr>
          <p:cNvPr id="11" name="">
            <a:extLst xmlns:a="http://schemas.openxmlformats.org/drawingml/2006/main">
              <a:ext uri="{FF2B5EF4-FFF2-40B4-BE49-F238E27FC236}">
                <a16:creationId xmlns:a16="http://schemas.microsoft.com/office/drawing/2014/main" id="{F3B88ACD-2A88-4423-845A-1D169410D5F8}"/>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622AE59C-9616-48E7-9914-FF213C0FC6E6}"/>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Matches 22% of Sep 1-8 (16/73)</a:t>
            </a:r>
          </a:p>
          <a:p xmlns:a="http://schemas.openxmlformats.org/drawingml/2006/main">
            <a:pPr>
              <a:defRPr sz="1200" b="0">
                <a:solidFill>
                  <a:srgbClr val="F7F4EC"/>
                </a:solidFill>
              </a:defRPr>
            </a:pPr>
            <a:r>
              <a:rPr sz="1200" b="0">
                <a:solidFill>
                  <a:srgbClr val="F7F4EC"/>
                </a:solidFill>
              </a:rPr>
              <a:t>Streams 38% of Sep 1-8 (3/8)</a:t>
            </a:r>
          </a:p>
        </p:txBody>
      </p:sp>
      <p:sp>
        <p:nvSpPr>
          <p:cNvPr id="13" name="">
            <a:extLst xmlns:a="http://schemas.openxmlformats.org/drawingml/2006/main">
              <a:ext uri="{FF2B5EF4-FFF2-40B4-BE49-F238E27FC236}">
                <a16:creationId xmlns:a16="http://schemas.microsoft.com/office/drawing/2014/main" id="{2DB9922D-6713-4C32-8DA3-5A737CE67328}"/>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99A0CD85-6A0F-4510-9E23-3FA56083017F}"/>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44%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F8029E9D-E735-45A4-9E7C-14D375E8B2B9}"/>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CD9D9F51-EDB1-4B42-81B8-C43E7112B6DE}"/>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@vitaliacy0</a:t>
            </a:r>
          </a:p>
        </p:txBody>
      </p:sp>
      <p:sp>
        <p:nvSpPr>
          <p:cNvPr id="17" name="">
            <a:extLst xmlns:a="http://schemas.openxmlformats.org/drawingml/2006/main">
              <a:ext uri="{FF2B5EF4-FFF2-40B4-BE49-F238E27FC236}">
                <a16:creationId xmlns:a16="http://schemas.microsoft.com/office/drawing/2014/main" id="{7F3742D5-2E67-4069-BBB1-E4A48AEFAF5E}"/>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E724AD9F-9AB6-4CA7-8369-AB21F20EE580}"/>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-41%</a:t>
            </a:r>
          </a:p>
        </p:txBody>
      </p:sp>
      <p:sp>
        <p:nvSpPr>
          <p:cNvPr id="19" name="">
            <a:extLst xmlns:a="http://schemas.openxmlformats.org/drawingml/2006/main">
              <a:ext uri="{FF2B5EF4-FFF2-40B4-BE49-F238E27FC236}">
                <a16:creationId xmlns:a16="http://schemas.microsoft.com/office/drawing/2014/main" id="{E0F9E342-E259-496C-B483-C4D9CB6AD983}"/>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144,792  |  Oct 1-8: 85,981</a:t>
            </a:r>
          </a:p>
        </p:txBody>
      </p:sp>
      <p:sp>
        <p:nvSpPr>
          <p:cNvPr id="20" name="">
            <a:extLst xmlns:a="http://schemas.openxmlformats.org/drawingml/2006/main">
              <a:ext uri="{FF2B5EF4-FFF2-40B4-BE49-F238E27FC236}">
                <a16:creationId xmlns:a16="http://schemas.microsoft.com/office/drawing/2014/main" id="{CBCEF2D2-33D1-44EF-B856-FB883B433CB8}"/>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024D0C80-9EBE-4755-836A-6CCAB07D81BC}"/>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Matches 2% of Sep 1-8 (4/168)</a:t>
            </a:r>
          </a:p>
          <a:p xmlns:a="http://schemas.openxmlformats.org/drawingml/2006/main">
            <a:pPr>
              <a:defRPr sz="1200" b="0">
                <a:solidFill>
                  <a:srgbClr val="F7F4EC"/>
                </a:solidFill>
              </a:defRPr>
            </a:pPr>
            <a:r>
              <a:rPr sz="1200" b="0">
                <a:solidFill>
                  <a:srgbClr val="F7F4EC"/>
                </a:solidFill>
              </a:rPr>
              <a:t>Same activity; diamonds 59% of Sep 1-8</a:t>
            </a:r>
          </a:p>
        </p:txBody>
      </p:sp>
      <p:sp>
        <p:nvSpPr>
          <p:cNvPr id="22" name="">
            <a:extLst xmlns:a="http://schemas.openxmlformats.org/drawingml/2006/main">
              <a:ext uri="{FF2B5EF4-FFF2-40B4-BE49-F238E27FC236}">
                <a16:creationId xmlns:a16="http://schemas.microsoft.com/office/drawing/2014/main" id="{BD356255-A940-4BB4-8866-22FACB35F12A}"/>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19C67E32-A753-4D13-888A-98B206C97C90}"/>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match activity is down. Set a plan for at least 10 matches a day, help them find suitable partners, and review how the plan is going after a few days.</a:t>
            </a:r>
          </a:p>
          <a:p xmlns:a="http://schemas.openxmlformats.org/drawingml/2006/main">
            <a:r>
              <a:t/>
            </a:r>
          </a:p>
          <a:p xmlns:a="http://schemas.openxmlformats.org/drawingml/2006/main">
            <a:pPr>
              <a:defRPr sz="1050" b="0">
                <a:solidFill>
                  <a:srgbClr val="F7F4EC"/>
                </a:solidFill>
              </a:defRPr>
            </a:pPr>
            <a:r>
              <a:rPr sz="1050" b="0">
                <a:solidFill>
                  <a:srgbClr val="F7F4EC"/>
                </a:solidFill>
              </a:rPr>
              <a:t>They are putting in similar live time but earning less. Review their visual quality, consistency, stream set-up and how they convert viewers while live.</a:t>
            </a:r>
          </a:p>
        </p:txBody>
      </p:sp>
      <p:sp>
        <p:nvSpPr>
          <p:cNvPr id="24" name="">
            <a:extLst xmlns:a="http://schemas.openxmlformats.org/drawingml/2006/main">
              <a:ext uri="{FF2B5EF4-FFF2-40B4-BE49-F238E27FC236}">
                <a16:creationId xmlns:a16="http://schemas.microsoft.com/office/drawing/2014/main" id="{4EB5A459-B053-4BF7-9017-EBF7DF6921D3}"/>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11</a:t>
            </a:r>
          </a:p>
        </p:txBody>
      </p:sp>
    </p:spTree>
    <p:extLst>
      <p:ext uri="{BB962C8B-B14F-4D97-AF65-F5344CB8AC3E}">
        <p14:creationId xmlns:p14="http://schemas.microsoft.com/office/powerpoint/2010/main" val="239653741"/>
      </p:ext>
    </p:extLst>
  </p:cSld>
</p:sld>
</file>

<file path=ppt/slides/slide12.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FFA03BB-D819-4C04-BD70-B0C6F7DF6522}"/>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C32275BC-D1D8-4198-AD16-52E0DF71D3D4}"/>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825AF239-7631-4E89-9205-EF19863E573B}"/>
              </a:ext>
            </a:extLst>
          </p:cNvPr>
          <p:cNvPicPr>
            <a:picLocks xmlns:a="http://schemas.openxmlformats.org/drawingml/2006/main" noChangeAspect="1"/>
          </p:cNvPicPr>
          <p:nvPr/>
        </p:nvPicPr>
        <p:blipFill>
          <a:blip xmlns:r="http://schemas.openxmlformats.org/officeDocument/2006/relationships" xmlns:a="http://schemas.openxmlformats.org/drawingml/2006/main" r:embed="R13bfc1c907224336"/>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DA54A3E-A4EF-4BD6-B47C-F31D0345C89E}"/>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2D9B32F5-1EAB-4463-97B7-298FCE6038A4}"/>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8E47A8DA-79C3-4CF4-934B-F7A4A0B59350}"/>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45B8FE1C-455F-4F8D-9678-0AEBC8339729}"/>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@j.wliveacc</a:t>
            </a:r>
          </a:p>
        </p:txBody>
      </p:sp>
      <p:sp>
        <p:nvSpPr>
          <p:cNvPr id="8" name="">
            <a:extLst xmlns:a="http://schemas.openxmlformats.org/drawingml/2006/main">
              <a:ext uri="{FF2B5EF4-FFF2-40B4-BE49-F238E27FC236}">
                <a16:creationId xmlns:a16="http://schemas.microsoft.com/office/drawing/2014/main" id="{B9E4BE51-5D13-4446-BA65-EFC8DFAB90D4}"/>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B47E71C8-8A5A-413F-A792-C07B9839EC4D}"/>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10" name="">
            <a:extLst xmlns:a="http://schemas.openxmlformats.org/drawingml/2006/main">
              <a:ext uri="{FF2B5EF4-FFF2-40B4-BE49-F238E27FC236}">
                <a16:creationId xmlns:a16="http://schemas.microsoft.com/office/drawing/2014/main" id="{0EEAEA0E-A24A-4DB2-A2D7-634FFFD1D364}"/>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55,136  |  Oct 1-8: 0</a:t>
            </a:r>
          </a:p>
        </p:txBody>
      </p:sp>
      <p:sp>
        <p:nvSpPr>
          <p:cNvPr id="11" name="">
            <a:extLst xmlns:a="http://schemas.openxmlformats.org/drawingml/2006/main">
              <a:ext uri="{FF2B5EF4-FFF2-40B4-BE49-F238E27FC236}">
                <a16:creationId xmlns:a16="http://schemas.microsoft.com/office/drawing/2014/main" id="{163C6753-45E2-4CA4-A1FC-0D814C3FA989}"/>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58E86B0D-8575-43E0-B5FF-1192205E09F7}"/>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No October activity</a:t>
            </a:r>
          </a:p>
        </p:txBody>
      </p:sp>
      <p:sp>
        <p:nvSpPr>
          <p:cNvPr id="13" name="">
            <a:extLst xmlns:a="http://schemas.openxmlformats.org/drawingml/2006/main">
              <a:ext uri="{FF2B5EF4-FFF2-40B4-BE49-F238E27FC236}">
                <a16:creationId xmlns:a16="http://schemas.microsoft.com/office/drawing/2014/main" id="{EE0E9D13-4198-493F-8A0B-41D8C39B7A86}"/>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75DE9037-B3D9-45D9-BF4B-96EC1F045412}"/>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This creator has not earned diamonds in October. Contact them today to confirm they are active, find out what is stopping them from going live, and agree their next scheduled live.</a:t>
            </a:r>
          </a:p>
        </p:txBody>
      </p:sp>
      <p:sp>
        <p:nvSpPr>
          <p:cNvPr id="15" name="">
            <a:extLst xmlns:a="http://schemas.openxmlformats.org/drawingml/2006/main">
              <a:ext uri="{FF2B5EF4-FFF2-40B4-BE49-F238E27FC236}">
                <a16:creationId xmlns:a16="http://schemas.microsoft.com/office/drawing/2014/main" id="{B8D9A5E2-32FD-4A16-95A3-61D6FE98385A}"/>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7B4DEFED-DC48-4989-BE43-8E8E7016FF4F}"/>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@poppy_cooper06</a:t>
            </a:r>
          </a:p>
        </p:txBody>
      </p:sp>
      <p:sp>
        <p:nvSpPr>
          <p:cNvPr id="17" name="">
            <a:extLst xmlns:a="http://schemas.openxmlformats.org/drawingml/2006/main">
              <a:ext uri="{FF2B5EF4-FFF2-40B4-BE49-F238E27FC236}">
                <a16:creationId xmlns:a16="http://schemas.microsoft.com/office/drawing/2014/main" id="{1F9A07BA-C99A-4801-ACDD-A86A8F560F0C}"/>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9B006B09-B74D-4D7A-B564-0FD271EA04F4}"/>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-72%</a:t>
            </a:r>
          </a:p>
        </p:txBody>
      </p:sp>
      <p:sp>
        <p:nvSpPr>
          <p:cNvPr id="19" name="">
            <a:extLst xmlns:a="http://schemas.openxmlformats.org/drawingml/2006/main">
              <a:ext uri="{FF2B5EF4-FFF2-40B4-BE49-F238E27FC236}">
                <a16:creationId xmlns:a16="http://schemas.microsoft.com/office/drawing/2014/main" id="{E4C8BB40-B594-43EA-A842-5957643A3F03}"/>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69,469  |  Oct 1-8: 19,334</a:t>
            </a:r>
          </a:p>
        </p:txBody>
      </p:sp>
      <p:sp>
        <p:nvSpPr>
          <p:cNvPr id="20" name="">
            <a:extLst xmlns:a="http://schemas.openxmlformats.org/drawingml/2006/main">
              <a:ext uri="{FF2B5EF4-FFF2-40B4-BE49-F238E27FC236}">
                <a16:creationId xmlns:a16="http://schemas.microsoft.com/office/drawing/2014/main" id="{ABC8FFD9-30BF-446B-B9DE-CF99B80268EC}"/>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81089D1B-400D-46C8-A1B6-EDC0EFD980DA}"/>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Matches 14% of Sep 1-8 (9/65)</a:t>
            </a:r>
          </a:p>
          <a:p xmlns:a="http://schemas.openxmlformats.org/drawingml/2006/main">
            <a:pPr>
              <a:defRPr sz="1200" b="0">
                <a:solidFill>
                  <a:srgbClr val="F7F4EC"/>
                </a:solidFill>
              </a:defRPr>
            </a:pPr>
            <a:r>
              <a:rPr sz="1200" b="0">
                <a:solidFill>
                  <a:srgbClr val="F7F4EC"/>
                </a:solidFill>
              </a:rPr>
              <a:t>Diamonds 28% of Sep 1-8 (19.3k/69.5k)</a:t>
            </a:r>
          </a:p>
        </p:txBody>
      </p:sp>
      <p:sp>
        <p:nvSpPr>
          <p:cNvPr id="22" name="">
            <a:extLst xmlns:a="http://schemas.openxmlformats.org/drawingml/2006/main">
              <a:ext uri="{FF2B5EF4-FFF2-40B4-BE49-F238E27FC236}">
                <a16:creationId xmlns:a16="http://schemas.microsoft.com/office/drawing/2014/main" id="{9B2A9BD7-AD78-4BA0-AF22-AD904E6F6100}"/>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0C6651D9-B96E-4506-9135-782A375D5C88}"/>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50%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10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94502E24-A8AA-4580-B04A-E88EBA3B8AE4}"/>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12</a:t>
            </a:r>
          </a:p>
        </p:txBody>
      </p:sp>
    </p:spTree>
    <p:extLst>
      <p:ext uri="{BB962C8B-B14F-4D97-AF65-F5344CB8AC3E}">
        <p14:creationId xmlns:p14="http://schemas.microsoft.com/office/powerpoint/2010/main" val="394478118"/>
      </p:ext>
    </p:extLst>
  </p:cSld>
</p:sld>
</file>

<file path=ppt/slides/slide13.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FB930D3-B68D-473C-B3A2-FC6E2B9F8C35}"/>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1356DA17-7184-4527-84F1-811D7E66D1C0}"/>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E01ABFAB-275D-45BD-A89F-4632AD240F3F}"/>
              </a:ext>
            </a:extLst>
          </p:cNvPr>
          <p:cNvPicPr>
            <a:picLocks xmlns:a="http://schemas.openxmlformats.org/drawingml/2006/main" noChangeAspect="1"/>
          </p:cNvPicPr>
          <p:nvPr/>
        </p:nvPicPr>
        <p:blipFill>
          <a:blip xmlns:r="http://schemas.openxmlformats.org/officeDocument/2006/relationships" xmlns:a="http://schemas.openxmlformats.org/drawingml/2006/main" r:embed="R44682124737a4117"/>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B7A2A9C-7C91-4F7F-B9ED-83FBBD5DC30D}"/>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BC437F6B-3F53-42C5-A399-C4DF4A75B5DF}"/>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5CA40345-83CA-4C6E-B7FC-EB5FF00C7E10}"/>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9FA985C7-6FA1-46DD-B06C-FF994FF4CA24}"/>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@kyzwrld1</a:t>
            </a:r>
          </a:p>
        </p:txBody>
      </p:sp>
      <p:sp>
        <p:nvSpPr>
          <p:cNvPr id="8" name="">
            <a:extLst xmlns:a="http://schemas.openxmlformats.org/drawingml/2006/main">
              <a:ext uri="{FF2B5EF4-FFF2-40B4-BE49-F238E27FC236}">
                <a16:creationId xmlns:a16="http://schemas.microsoft.com/office/drawing/2014/main" id="{235E8366-E5D3-4274-A366-EA15084973B1}"/>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8FE72277-A90D-40C6-BE6C-BE951C075D30}"/>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-26%</a:t>
            </a:r>
          </a:p>
        </p:txBody>
      </p:sp>
      <p:sp>
        <p:nvSpPr>
          <p:cNvPr id="10" name="">
            <a:extLst xmlns:a="http://schemas.openxmlformats.org/drawingml/2006/main">
              <a:ext uri="{FF2B5EF4-FFF2-40B4-BE49-F238E27FC236}">
                <a16:creationId xmlns:a16="http://schemas.microsoft.com/office/drawing/2014/main" id="{DC2EF0C7-E3F3-48BD-9474-4411D04CFA37}"/>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148,172  |  Oct 1-8: 109,424</a:t>
            </a:r>
          </a:p>
        </p:txBody>
      </p:sp>
      <p:sp>
        <p:nvSpPr>
          <p:cNvPr id="11" name="">
            <a:extLst xmlns:a="http://schemas.openxmlformats.org/drawingml/2006/main">
              <a:ext uri="{FF2B5EF4-FFF2-40B4-BE49-F238E27FC236}">
                <a16:creationId xmlns:a16="http://schemas.microsoft.com/office/drawing/2014/main" id="{F5E5B714-90BF-4713-AF30-198F4CE9B2B7}"/>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51338331-48FF-4EF1-87E3-A26E36EC5279}"/>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Hours 58% of Sep 1-8 (9h/15h)</a:t>
            </a:r>
          </a:p>
          <a:p xmlns:a="http://schemas.openxmlformats.org/drawingml/2006/main">
            <a:pPr>
              <a:defRPr sz="1200" b="0">
                <a:solidFill>
                  <a:srgbClr val="F7F4EC"/>
                </a:solidFill>
              </a:defRPr>
            </a:pPr>
            <a:r>
              <a:rPr sz="1200" b="0">
                <a:solidFill>
                  <a:srgbClr val="F7F4EC"/>
                </a:solidFill>
              </a:rPr>
              <a:t>Matches 50% of Sep 1-8 (42/84)</a:t>
            </a:r>
          </a:p>
        </p:txBody>
      </p:sp>
      <p:sp>
        <p:nvSpPr>
          <p:cNvPr id="13" name="">
            <a:extLst xmlns:a="http://schemas.openxmlformats.org/drawingml/2006/main">
              <a:ext uri="{FF2B5EF4-FFF2-40B4-BE49-F238E27FC236}">
                <a16:creationId xmlns:a16="http://schemas.microsoft.com/office/drawing/2014/main" id="{6F14856E-020A-45FD-A0DE-AC0EA0DC3AA8}"/>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C4E92031-E34A-49E5-A923-3696A06E5D60}"/>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58%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B12940D5-3079-467D-9652-7420EF183D02}"/>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4BF43A92-CC8E-47DA-9EE1-2892566B1033}"/>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@goldengun62</a:t>
            </a:r>
          </a:p>
        </p:txBody>
      </p:sp>
      <p:sp>
        <p:nvSpPr>
          <p:cNvPr id="17" name="">
            <a:extLst xmlns:a="http://schemas.openxmlformats.org/drawingml/2006/main">
              <a:ext uri="{FF2B5EF4-FFF2-40B4-BE49-F238E27FC236}">
                <a16:creationId xmlns:a16="http://schemas.microsoft.com/office/drawing/2014/main" id="{DBD83DF8-9BC3-4F22-B500-CEADB7B01B2E}"/>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E43B2B20-297C-4F56-9864-105AA993D950}"/>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-53%</a:t>
            </a:r>
          </a:p>
        </p:txBody>
      </p:sp>
      <p:sp>
        <p:nvSpPr>
          <p:cNvPr id="19" name="">
            <a:extLst xmlns:a="http://schemas.openxmlformats.org/drawingml/2006/main">
              <a:ext uri="{FF2B5EF4-FFF2-40B4-BE49-F238E27FC236}">
                <a16:creationId xmlns:a16="http://schemas.microsoft.com/office/drawing/2014/main" id="{8E406E46-609A-4725-A7B2-665FD125DC03}"/>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66,773  |  Oct 1-8: 31,379</a:t>
            </a:r>
          </a:p>
        </p:txBody>
      </p:sp>
      <p:sp>
        <p:nvSpPr>
          <p:cNvPr id="20" name="">
            <a:extLst xmlns:a="http://schemas.openxmlformats.org/drawingml/2006/main">
              <a:ext uri="{FF2B5EF4-FFF2-40B4-BE49-F238E27FC236}">
                <a16:creationId xmlns:a16="http://schemas.microsoft.com/office/drawing/2014/main" id="{E378B9C5-878E-4AEF-B664-2AE07EDCDD2A}"/>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757C7627-48BE-483B-8AD9-32EA983D6C92}"/>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Same activity; diamonds 47% of Sep 1-8</a:t>
            </a:r>
          </a:p>
        </p:txBody>
      </p:sp>
      <p:sp>
        <p:nvSpPr>
          <p:cNvPr id="22" name="">
            <a:extLst xmlns:a="http://schemas.openxmlformats.org/drawingml/2006/main">
              <a:ext uri="{FF2B5EF4-FFF2-40B4-BE49-F238E27FC236}">
                <a16:creationId xmlns:a16="http://schemas.microsoft.com/office/drawing/2014/main" id="{18FD5775-08A0-41BA-B2B1-CA52061FFD27}"/>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82A76D9C-18E7-4149-9C8A-AC62DD0B6597}"/>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They are putting in similar live time but earning less. Review their visual quality, consistency, stream set-up and how they convert viewers while live.</a:t>
            </a:r>
          </a:p>
        </p:txBody>
      </p:sp>
      <p:sp>
        <p:nvSpPr>
          <p:cNvPr id="24" name="">
            <a:extLst xmlns:a="http://schemas.openxmlformats.org/drawingml/2006/main">
              <a:ext uri="{FF2B5EF4-FFF2-40B4-BE49-F238E27FC236}">
                <a16:creationId xmlns:a16="http://schemas.microsoft.com/office/drawing/2014/main" id="{0666CE02-D6D7-479C-A330-D192EEEA22FF}"/>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13</a:t>
            </a:r>
          </a:p>
        </p:txBody>
      </p:sp>
    </p:spTree>
    <p:extLst>
      <p:ext uri="{BB962C8B-B14F-4D97-AF65-F5344CB8AC3E}">
        <p14:creationId xmlns:p14="http://schemas.microsoft.com/office/powerpoint/2010/main" val="1005658179"/>
      </p:ext>
    </p:extLst>
  </p:cSld>
</p:sld>
</file>

<file path=ppt/slides/slide14.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B18E8DB-5CFC-4864-BFB7-D1C777DA2299}"/>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EF0C33D4-D669-43F9-AC96-33E7F0D60BF2}"/>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300235DC-BFE9-4D17-8962-094E57C418B3}"/>
              </a:ext>
            </a:extLst>
          </p:cNvPr>
          <p:cNvPicPr>
            <a:picLocks xmlns:a="http://schemas.openxmlformats.org/drawingml/2006/main" noChangeAspect="1"/>
          </p:cNvPicPr>
          <p:nvPr/>
        </p:nvPicPr>
        <p:blipFill>
          <a:blip xmlns:r="http://schemas.openxmlformats.org/officeDocument/2006/relationships" xmlns:a="http://schemas.openxmlformats.org/drawingml/2006/main" r:embed="Re0025caf929b434f"/>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3983E5A-1130-42CC-BC1B-A1AC6D287507}"/>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92D78422-F26E-408F-8EF6-A1CEDFA9618D}"/>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543C43A6-6113-42CB-BAD2-EEDC2BB33CBE}"/>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12829DF5-DEC3-4807-A171-F12AA27ED34E}"/>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@ronniefieldd</a:t>
            </a:r>
          </a:p>
        </p:txBody>
      </p:sp>
      <p:sp>
        <p:nvSpPr>
          <p:cNvPr id="8" name="">
            <a:extLst xmlns:a="http://schemas.openxmlformats.org/drawingml/2006/main">
              <a:ext uri="{FF2B5EF4-FFF2-40B4-BE49-F238E27FC236}">
                <a16:creationId xmlns:a16="http://schemas.microsoft.com/office/drawing/2014/main" id="{637649C2-A41F-4543-9293-5ACF1A44909F}"/>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216B1541-5C4F-4DA7-864A-1B7F54A8F4FA}"/>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-98%</a:t>
            </a:r>
          </a:p>
        </p:txBody>
      </p:sp>
      <p:sp>
        <p:nvSpPr>
          <p:cNvPr id="10" name="">
            <a:extLst xmlns:a="http://schemas.openxmlformats.org/drawingml/2006/main">
              <a:ext uri="{FF2B5EF4-FFF2-40B4-BE49-F238E27FC236}">
                <a16:creationId xmlns:a16="http://schemas.microsoft.com/office/drawing/2014/main" id="{B205B38C-534E-47DF-9BEE-2AE62C07A207}"/>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29,638  |  Oct 1-8: 579</a:t>
            </a:r>
          </a:p>
        </p:txBody>
      </p:sp>
      <p:sp>
        <p:nvSpPr>
          <p:cNvPr id="11" name="">
            <a:extLst xmlns:a="http://schemas.openxmlformats.org/drawingml/2006/main">
              <a:ext uri="{FF2B5EF4-FFF2-40B4-BE49-F238E27FC236}">
                <a16:creationId xmlns:a16="http://schemas.microsoft.com/office/drawing/2014/main" id="{DE1B97C8-55B3-4D6E-B305-C30C5DA9EDA6}"/>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D6FC9333-27B0-4271-8437-FFF3C68E044D}"/>
              </a:ext>
            </a:extLst>
          </p:cNvPr>
          <p:cNvSpPr>
            <a:spLocks xmlns:a="http://schemas.openxmlformats.org/drawingml/2006/main" noGrp="1"/>
          </p:cNvSpPr>
          <p:nvPr/>
        </p:nvSpPr>
        <p:spPr>
          <a:xfrm xmlns:a="http://schemas.openxmlformats.org/drawingml/2006/main">
            <a:off x="4000500" y="2809875"/>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2% of Sep 1-8 (579/29.6k)</a:t>
            </a:r>
          </a:p>
          <a:p xmlns:a="http://schemas.openxmlformats.org/drawingml/2006/main">
            <a:pPr>
              <a:defRPr sz="1200" b="0">
                <a:solidFill>
                  <a:srgbClr val="F7F4EC"/>
                </a:solidFill>
              </a:defRPr>
            </a:pPr>
            <a:r>
              <a:rPr sz="1200" b="0">
                <a:solidFill>
                  <a:srgbClr val="F7F4EC"/>
                </a:solidFill>
              </a:rPr>
              <a:t>Hours 18% of Sep 1-8 (3h/17h)</a:t>
            </a:r>
          </a:p>
        </p:txBody>
      </p:sp>
      <p:sp>
        <p:nvSpPr>
          <p:cNvPr id="13" name="">
            <a:extLst xmlns:a="http://schemas.openxmlformats.org/drawingml/2006/main">
              <a:ext uri="{FF2B5EF4-FFF2-40B4-BE49-F238E27FC236}">
                <a16:creationId xmlns:a16="http://schemas.microsoft.com/office/drawing/2014/main" id="{6F6A1BA5-DEDA-4098-BC60-4F40A9B59082}"/>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7A2E045E-4013-4631-B5C1-2EA094BA40F3}"/>
              </a:ext>
            </a:extLst>
          </p:cNvPr>
          <p:cNvSpPr>
            <a:spLocks xmlns:a="http://schemas.openxmlformats.org/drawingml/2006/main" noGrp="1"/>
          </p:cNvSpPr>
          <p:nvPr/>
        </p:nvSpPr>
        <p:spPr>
          <a:xfrm xmlns:a="http://schemas.openxmlformats.org/drawingml/2006/main">
            <a:off x="7620000" y="2809875"/>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18%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7DBBCE45-D9A5-474D-BD40-3D77C4E32FA7}"/>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14</a:t>
            </a:r>
          </a:p>
        </p:txBody>
      </p:sp>
    </p:spTree>
    <p:extLst>
      <p:ext uri="{BB962C8B-B14F-4D97-AF65-F5344CB8AC3E}">
        <p14:creationId xmlns:p14="http://schemas.microsoft.com/office/powerpoint/2010/main" val="1468772855"/>
      </p:ext>
    </p:extLst>
  </p:cSld>
</p:sld>
</file>

<file path=ppt/slides/slide15.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EADD5C7-BB33-449A-B544-78A61822E78C}"/>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FC6018C2-8361-49E7-BF1D-40A2BC7F07CB}"/>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8C071005-CAB0-48FE-B4DB-058E86A57F67}"/>
              </a:ext>
            </a:extLst>
          </p:cNvPr>
          <p:cNvPicPr>
            <a:picLocks xmlns:a="http://schemas.openxmlformats.org/drawingml/2006/main" noChangeAspect="1"/>
          </p:cNvPicPr>
          <p:nvPr/>
        </p:nvPicPr>
        <p:blipFill>
          <a:blip xmlns:r="http://schemas.openxmlformats.org/officeDocument/2006/relationships" xmlns:a="http://schemas.openxmlformats.org/drawingml/2006/main" r:embed="R84f84caf499f4452"/>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56412C0-F00F-4BE7-92E0-0EC6302D1493}"/>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firstclassagency_kayden@outlook.com</a:t>
            </a:r>
          </a:p>
        </p:txBody>
      </p:sp>
      <p:sp>
        <p:nvSpPr>
          <p:cNvPr id="5" name="">
            <a:extLst xmlns:a="http://schemas.openxmlformats.org/drawingml/2006/main">
              <a:ext uri="{FF2B5EF4-FFF2-40B4-BE49-F238E27FC236}">
                <a16:creationId xmlns:a16="http://schemas.microsoft.com/office/drawing/2014/main" id="{75474573-430D-4EA7-AA67-9201E5DF4DF3}"/>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8235D20A-F453-4AF0-AC1C-FDA8D1A1AD44}"/>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3EFB021D-B7D4-4AC9-A682-690A241CDB7B}"/>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@lissy.grwm0</a:t>
            </a:r>
          </a:p>
        </p:txBody>
      </p:sp>
      <p:sp>
        <p:nvSpPr>
          <p:cNvPr id="8" name="">
            <a:extLst xmlns:a="http://schemas.openxmlformats.org/drawingml/2006/main">
              <a:ext uri="{FF2B5EF4-FFF2-40B4-BE49-F238E27FC236}">
                <a16:creationId xmlns:a16="http://schemas.microsoft.com/office/drawing/2014/main" id="{B949D95F-7974-4087-B7E3-B2F664C2A82C}"/>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AAC1FD7C-6D5E-41BE-BC8E-5B7F6B9C1204}"/>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-95%</a:t>
            </a:r>
          </a:p>
        </p:txBody>
      </p:sp>
      <p:sp>
        <p:nvSpPr>
          <p:cNvPr id="10" name="">
            <a:extLst xmlns:a="http://schemas.openxmlformats.org/drawingml/2006/main">
              <a:ext uri="{FF2B5EF4-FFF2-40B4-BE49-F238E27FC236}">
                <a16:creationId xmlns:a16="http://schemas.microsoft.com/office/drawing/2014/main" id="{E022287C-2044-43E6-A60D-349309DBB3F9}"/>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78,492  |  Oct 1-8: 3,942</a:t>
            </a:r>
          </a:p>
        </p:txBody>
      </p:sp>
      <p:sp>
        <p:nvSpPr>
          <p:cNvPr id="11" name="">
            <a:extLst xmlns:a="http://schemas.openxmlformats.org/drawingml/2006/main">
              <a:ext uri="{FF2B5EF4-FFF2-40B4-BE49-F238E27FC236}">
                <a16:creationId xmlns:a16="http://schemas.microsoft.com/office/drawing/2014/main" id="{E635B420-227E-4732-ACF1-07F88B4FFD14}"/>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C96AB2FB-2ECD-4B9C-B8A7-EF2CD26513D3}"/>
              </a:ext>
            </a:extLst>
          </p:cNvPr>
          <p:cNvSpPr>
            <a:spLocks xmlns:a="http://schemas.openxmlformats.org/drawingml/2006/main" noGrp="1"/>
          </p:cNvSpPr>
          <p:nvPr/>
        </p:nvSpPr>
        <p:spPr>
          <a:xfrm xmlns:a="http://schemas.openxmlformats.org/drawingml/2006/main">
            <a:off x="4000500" y="2809875"/>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Hours 0% of Sep 1-8 (0h/6h)</a:t>
            </a:r>
          </a:p>
          <a:p xmlns:a="http://schemas.openxmlformats.org/drawingml/2006/main">
            <a:pPr>
              <a:defRPr sz="1200" b="0">
                <a:solidFill>
                  <a:srgbClr val="F7F4EC"/>
                </a:solidFill>
              </a:defRPr>
            </a:pPr>
            <a:r>
              <a:rPr sz="1200" b="0">
                <a:solidFill>
                  <a:srgbClr val="F7F4EC"/>
                </a:solidFill>
              </a:rPr>
              <a:t>Matches 5% of Sep 1-8 (2/40)</a:t>
            </a:r>
          </a:p>
        </p:txBody>
      </p:sp>
      <p:sp>
        <p:nvSpPr>
          <p:cNvPr id="13" name="">
            <a:extLst xmlns:a="http://schemas.openxmlformats.org/drawingml/2006/main">
              <a:ext uri="{FF2B5EF4-FFF2-40B4-BE49-F238E27FC236}">
                <a16:creationId xmlns:a16="http://schemas.microsoft.com/office/drawing/2014/main" id="{4D5A04BE-5A29-41DB-8A18-C51BBA7AD5AE}"/>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97D50375-C8D5-490A-993B-E958ACA3123D}"/>
              </a:ext>
            </a:extLst>
          </p:cNvPr>
          <p:cNvSpPr>
            <a:spLocks xmlns:a="http://schemas.openxmlformats.org/drawingml/2006/main" noGrp="1"/>
          </p:cNvSpPr>
          <p:nvPr/>
        </p:nvSpPr>
        <p:spPr>
          <a:xfrm xmlns:a="http://schemas.openxmlformats.org/drawingml/2006/main">
            <a:off x="7620000" y="2809875"/>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B8E53F8E-05F3-417A-9A07-A8049C66AC4B}"/>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15</a:t>
            </a:r>
          </a:p>
        </p:txBody>
      </p:sp>
    </p:spTree>
    <p:extLst>
      <p:ext uri="{BB962C8B-B14F-4D97-AF65-F5344CB8AC3E}">
        <p14:creationId xmlns:p14="http://schemas.microsoft.com/office/powerpoint/2010/main" val="2122829604"/>
      </p:ext>
    </p:extLst>
  </p:cSld>
</p:sld>
</file>

<file path=ppt/slides/slide16.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0160AA6-E179-4DA0-A417-46DF18AB1627}"/>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CE234676-A87A-4331-ACAC-E524211EB10C}"/>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2CCE8D7D-2781-47AD-9684-D1CB953E2925}"/>
              </a:ext>
            </a:extLst>
          </p:cNvPr>
          <p:cNvPicPr>
            <a:picLocks xmlns:a="http://schemas.openxmlformats.org/drawingml/2006/main" noChangeAspect="1"/>
          </p:cNvPicPr>
          <p:nvPr/>
        </p:nvPicPr>
        <p:blipFill>
          <a:blip xmlns:r="http://schemas.openxmlformats.org/officeDocument/2006/relationships" xmlns:a="http://schemas.openxmlformats.org/drawingml/2006/main" r:embed="R1c85b4493f3740f2"/>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D97141C-06CE-44E9-AEF7-4FC64172D4E5}"/>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firstclassagency_kyran@outlook.com</a:t>
            </a:r>
          </a:p>
        </p:txBody>
      </p:sp>
      <p:sp>
        <p:nvSpPr>
          <p:cNvPr id="5" name="">
            <a:extLst xmlns:a="http://schemas.openxmlformats.org/drawingml/2006/main">
              <a:ext uri="{FF2B5EF4-FFF2-40B4-BE49-F238E27FC236}">
                <a16:creationId xmlns:a16="http://schemas.microsoft.com/office/drawing/2014/main" id="{9C6815EE-6824-4D72-99AC-DEFF8D68E0A9}"/>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011CE385-27AF-4A85-8EEC-118DC3A132E0}"/>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E246D57A-BF52-4848-9E16-73B94571B22E}"/>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@x_cj_tokens_x</a:t>
            </a:r>
          </a:p>
        </p:txBody>
      </p:sp>
      <p:sp>
        <p:nvSpPr>
          <p:cNvPr id="8" name="">
            <a:extLst xmlns:a="http://schemas.openxmlformats.org/drawingml/2006/main">
              <a:ext uri="{FF2B5EF4-FFF2-40B4-BE49-F238E27FC236}">
                <a16:creationId xmlns:a16="http://schemas.microsoft.com/office/drawing/2014/main" id="{5D6A071B-9D96-4A56-B47C-E65E86BC2848}"/>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CBC9F11E-C249-4BF3-95C0-B9BFC78158BB}"/>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-96%</a:t>
            </a:r>
          </a:p>
        </p:txBody>
      </p:sp>
      <p:sp>
        <p:nvSpPr>
          <p:cNvPr id="10" name="">
            <a:extLst xmlns:a="http://schemas.openxmlformats.org/drawingml/2006/main">
              <a:ext uri="{FF2B5EF4-FFF2-40B4-BE49-F238E27FC236}">
                <a16:creationId xmlns:a16="http://schemas.microsoft.com/office/drawing/2014/main" id="{B55BE1EC-B605-4D65-A298-1544184461FE}"/>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151,776  |  Oct 1-8: 6,250</a:t>
            </a:r>
          </a:p>
        </p:txBody>
      </p:sp>
      <p:sp>
        <p:nvSpPr>
          <p:cNvPr id="11" name="">
            <a:extLst xmlns:a="http://schemas.openxmlformats.org/drawingml/2006/main">
              <a:ext uri="{FF2B5EF4-FFF2-40B4-BE49-F238E27FC236}">
                <a16:creationId xmlns:a16="http://schemas.microsoft.com/office/drawing/2014/main" id="{27288995-633B-47B1-820D-BAE2A5BC347E}"/>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8F452394-4654-46B6-A6E2-BB0B69C97569}"/>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4% of Sep 1-8 (6.2k/151.8k)</a:t>
            </a:r>
          </a:p>
          <a:p xmlns:a="http://schemas.openxmlformats.org/drawingml/2006/main">
            <a:pPr>
              <a:defRPr sz="1200" b="0">
                <a:solidFill>
                  <a:srgbClr val="F7F4EC"/>
                </a:solidFill>
              </a:defRPr>
            </a:pPr>
            <a:r>
              <a:rPr sz="1200" b="0">
                <a:solidFill>
                  <a:srgbClr val="F7F4EC"/>
                </a:solidFill>
              </a:rPr>
              <a:t>Matches 13% of Sep 1-8 (27/203)</a:t>
            </a:r>
          </a:p>
        </p:txBody>
      </p:sp>
      <p:sp>
        <p:nvSpPr>
          <p:cNvPr id="13" name="">
            <a:extLst xmlns:a="http://schemas.openxmlformats.org/drawingml/2006/main">
              <a:ext uri="{FF2B5EF4-FFF2-40B4-BE49-F238E27FC236}">
                <a16:creationId xmlns:a16="http://schemas.microsoft.com/office/drawing/2014/main" id="{5E9EF357-5FDF-4870-9EED-3C4DA18B0B15}"/>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49DA4BB3-E54E-4BA7-8C24-A2234701F674}"/>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24%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43CB0147-A56E-41ED-BC09-6F236464378E}"/>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FFF8CCD1-CC10-439F-9887-D31929FD0275}"/>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@brandyfalconer</a:t>
            </a:r>
          </a:p>
        </p:txBody>
      </p:sp>
      <p:sp>
        <p:nvSpPr>
          <p:cNvPr id="17" name="">
            <a:extLst xmlns:a="http://schemas.openxmlformats.org/drawingml/2006/main">
              <a:ext uri="{FF2B5EF4-FFF2-40B4-BE49-F238E27FC236}">
                <a16:creationId xmlns:a16="http://schemas.microsoft.com/office/drawing/2014/main" id="{8460ED39-E844-4129-9182-F6015D44A4F1}"/>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A8C8B3A4-3506-47DF-B489-F6FD44FFCC1A}"/>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-91%</a:t>
            </a:r>
          </a:p>
        </p:txBody>
      </p:sp>
      <p:sp>
        <p:nvSpPr>
          <p:cNvPr id="19" name="">
            <a:extLst xmlns:a="http://schemas.openxmlformats.org/drawingml/2006/main">
              <a:ext uri="{FF2B5EF4-FFF2-40B4-BE49-F238E27FC236}">
                <a16:creationId xmlns:a16="http://schemas.microsoft.com/office/drawing/2014/main" id="{3707E043-3D89-44BF-B1BC-BF9DA136D124}"/>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60,600  |  Oct 1-8: 5,601</a:t>
            </a:r>
          </a:p>
        </p:txBody>
      </p:sp>
      <p:sp>
        <p:nvSpPr>
          <p:cNvPr id="20" name="">
            <a:extLst xmlns:a="http://schemas.openxmlformats.org/drawingml/2006/main">
              <a:ext uri="{FF2B5EF4-FFF2-40B4-BE49-F238E27FC236}">
                <a16:creationId xmlns:a16="http://schemas.microsoft.com/office/drawing/2014/main" id="{E9283C61-8E12-431D-84EB-9181EAEBB7D4}"/>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EA86FA58-39B9-4F2C-924D-3C5537FE768E}"/>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Matches 0% of Sep 1-8 (0/24)</a:t>
            </a:r>
          </a:p>
          <a:p xmlns:a="http://schemas.openxmlformats.org/drawingml/2006/main">
            <a:pPr>
              <a:defRPr sz="1200" b="0">
                <a:solidFill>
                  <a:srgbClr val="F7F4EC"/>
                </a:solidFill>
              </a:defRPr>
            </a:pPr>
            <a:r>
              <a:rPr sz="1200" b="0">
                <a:solidFill>
                  <a:srgbClr val="F7F4EC"/>
                </a:solidFill>
              </a:rPr>
              <a:t>Hours 15% of Sep 1-8 (2h/11h)</a:t>
            </a:r>
          </a:p>
        </p:txBody>
      </p:sp>
      <p:sp>
        <p:nvSpPr>
          <p:cNvPr id="22" name="">
            <a:extLst xmlns:a="http://schemas.openxmlformats.org/drawingml/2006/main">
              <a:ext uri="{FF2B5EF4-FFF2-40B4-BE49-F238E27FC236}">
                <a16:creationId xmlns:a16="http://schemas.microsoft.com/office/drawing/2014/main" id="{B1BA0B38-602B-4D54-90C9-E5877B9A9822}"/>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94FCC654-7881-447D-BB8F-DE86DAB47E8C}"/>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15%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FD0B75FB-CB17-4E08-95B6-6EC706634EEB}"/>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16</a:t>
            </a:r>
          </a:p>
        </p:txBody>
      </p:sp>
    </p:spTree>
    <p:extLst>
      <p:ext uri="{BB962C8B-B14F-4D97-AF65-F5344CB8AC3E}">
        <p14:creationId xmlns:p14="http://schemas.microsoft.com/office/powerpoint/2010/main" val="101389839"/>
      </p:ext>
    </p:extLst>
  </p:cSld>
</p:sld>
</file>

<file path=ppt/slides/slide17.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50FE977-38BD-4887-87BB-63805FA6E3E4}"/>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F4F9268C-5AA4-4468-AC58-FCAF6A2E7454}"/>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CFBDD584-967E-45DE-92AC-E49F0C7B7A06}"/>
              </a:ext>
            </a:extLst>
          </p:cNvPr>
          <p:cNvPicPr>
            <a:picLocks xmlns:a="http://schemas.openxmlformats.org/drawingml/2006/main" noChangeAspect="1"/>
          </p:cNvPicPr>
          <p:nvPr/>
        </p:nvPicPr>
        <p:blipFill>
          <a:blip xmlns:r="http://schemas.openxmlformats.org/officeDocument/2006/relationships" xmlns:a="http://schemas.openxmlformats.org/drawingml/2006/main" r:embed="Rd7a8fbf248f844b5"/>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6846E1E-D157-46DE-8C24-5F128E8AD812}"/>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firstclassagency_mavis@outlook.com</a:t>
            </a:r>
          </a:p>
        </p:txBody>
      </p:sp>
      <p:sp>
        <p:nvSpPr>
          <p:cNvPr id="5" name="">
            <a:extLst xmlns:a="http://schemas.openxmlformats.org/drawingml/2006/main">
              <a:ext uri="{FF2B5EF4-FFF2-40B4-BE49-F238E27FC236}">
                <a16:creationId xmlns:a16="http://schemas.microsoft.com/office/drawing/2014/main" id="{B806B533-1F17-4043-9043-6E3FC6DAFC09}"/>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A461F246-03C4-4344-B37C-F6D38BEEC981}"/>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54A29B8A-774B-43CF-B25A-C1641C69329A}"/>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@rosiehughes81</a:t>
            </a:r>
          </a:p>
        </p:txBody>
      </p:sp>
      <p:sp>
        <p:nvSpPr>
          <p:cNvPr id="8" name="">
            <a:extLst xmlns:a="http://schemas.openxmlformats.org/drawingml/2006/main">
              <a:ext uri="{FF2B5EF4-FFF2-40B4-BE49-F238E27FC236}">
                <a16:creationId xmlns:a16="http://schemas.microsoft.com/office/drawing/2014/main" id="{E6EB1939-8DC8-4E9B-A7E6-09838899D8A7}"/>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C6296851-BAB7-46D8-97E0-3E04063F83FE}"/>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-77%</a:t>
            </a:r>
          </a:p>
        </p:txBody>
      </p:sp>
      <p:sp>
        <p:nvSpPr>
          <p:cNvPr id="10" name="">
            <a:extLst xmlns:a="http://schemas.openxmlformats.org/drawingml/2006/main">
              <a:ext uri="{FF2B5EF4-FFF2-40B4-BE49-F238E27FC236}">
                <a16:creationId xmlns:a16="http://schemas.microsoft.com/office/drawing/2014/main" id="{8640F27A-23B0-4F9A-9FB6-F193289B020F}"/>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48,274  |  Oct 1-8: 11,236</a:t>
            </a:r>
          </a:p>
        </p:txBody>
      </p:sp>
      <p:sp>
        <p:nvSpPr>
          <p:cNvPr id="11" name="">
            <a:extLst xmlns:a="http://schemas.openxmlformats.org/drawingml/2006/main">
              <a:ext uri="{FF2B5EF4-FFF2-40B4-BE49-F238E27FC236}">
                <a16:creationId xmlns:a16="http://schemas.microsoft.com/office/drawing/2014/main" id="{04984531-E3D1-4A30-A2EA-F8D00F2AA357}"/>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50C46EEA-C2E0-4791-B6EC-23F41DB1D67F}"/>
              </a:ext>
            </a:extLst>
          </p:cNvPr>
          <p:cNvSpPr>
            <a:spLocks xmlns:a="http://schemas.openxmlformats.org/drawingml/2006/main" noGrp="1"/>
          </p:cNvSpPr>
          <p:nvPr/>
        </p:nvSpPr>
        <p:spPr>
          <a:xfrm xmlns:a="http://schemas.openxmlformats.org/drawingml/2006/main">
            <a:off x="4000500" y="2809875"/>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23% of Sep 1-8 (11.2k/48.3k)</a:t>
            </a:r>
          </a:p>
          <a:p xmlns:a="http://schemas.openxmlformats.org/drawingml/2006/main">
            <a:pPr>
              <a:defRPr sz="1200" b="0">
                <a:solidFill>
                  <a:srgbClr val="F7F4EC"/>
                </a:solidFill>
              </a:defRPr>
            </a:pPr>
            <a:r>
              <a:rPr sz="1200" b="0">
                <a:solidFill>
                  <a:srgbClr val="F7F4EC"/>
                </a:solidFill>
              </a:rPr>
              <a:t>Hours 57% of Sep 1-8 (7h/13h)</a:t>
            </a:r>
          </a:p>
        </p:txBody>
      </p:sp>
      <p:sp>
        <p:nvSpPr>
          <p:cNvPr id="13" name="">
            <a:extLst xmlns:a="http://schemas.openxmlformats.org/drawingml/2006/main">
              <a:ext uri="{FF2B5EF4-FFF2-40B4-BE49-F238E27FC236}">
                <a16:creationId xmlns:a16="http://schemas.microsoft.com/office/drawing/2014/main" id="{4471EA8B-51DD-4FC3-B26F-D8855CEC8250}"/>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B6ED5504-7A65-4BDF-9245-6839F38EE9AE}"/>
              </a:ext>
            </a:extLst>
          </p:cNvPr>
          <p:cNvSpPr>
            <a:spLocks xmlns:a="http://schemas.openxmlformats.org/drawingml/2006/main" noGrp="1"/>
          </p:cNvSpPr>
          <p:nvPr/>
        </p:nvSpPr>
        <p:spPr>
          <a:xfrm xmlns:a="http://schemas.openxmlformats.org/drawingml/2006/main">
            <a:off x="7620000" y="2809875"/>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57%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99E13216-CC3E-455A-BCF2-77F054CEEBF0}"/>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17</a:t>
            </a:r>
          </a:p>
        </p:txBody>
      </p:sp>
    </p:spTree>
    <p:extLst>
      <p:ext uri="{BB962C8B-B14F-4D97-AF65-F5344CB8AC3E}">
        <p14:creationId xmlns:p14="http://schemas.microsoft.com/office/powerpoint/2010/main" val="1552373354"/>
      </p:ext>
    </p:extLst>
  </p:cSld>
</p:sld>
</file>

<file path=ppt/slides/slide18.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ED81776-C2C6-486A-901D-50EFFE932B99}"/>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6BB745EA-64FC-45F4-B9BF-B95DCCE5F716}"/>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521FA940-6F7C-442E-930C-921FAEDB0575}"/>
              </a:ext>
            </a:extLst>
          </p:cNvPr>
          <p:cNvPicPr>
            <a:picLocks xmlns:a="http://schemas.openxmlformats.org/drawingml/2006/main" noChangeAspect="1"/>
          </p:cNvPicPr>
          <p:nvPr/>
        </p:nvPicPr>
        <p:blipFill>
          <a:blip xmlns:r="http://schemas.openxmlformats.org/officeDocument/2006/relationships" xmlns:a="http://schemas.openxmlformats.org/drawingml/2006/main" r:embed="R8ee1005e39924b2e"/>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D2AFD0E-71B5-4D67-99CD-7C3D8882667A}"/>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firstclassagency_millie@outlook.com</a:t>
            </a:r>
          </a:p>
        </p:txBody>
      </p:sp>
      <p:sp>
        <p:nvSpPr>
          <p:cNvPr id="5" name="">
            <a:extLst xmlns:a="http://schemas.openxmlformats.org/drawingml/2006/main">
              <a:ext uri="{FF2B5EF4-FFF2-40B4-BE49-F238E27FC236}">
                <a16:creationId xmlns:a16="http://schemas.microsoft.com/office/drawing/2014/main" id="{B5A6C0AA-B822-4B9D-BE24-7D462C199F0B}"/>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E209ACB4-96F7-405F-904D-FF9466958F13}"/>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B5A4969B-6567-4D40-BC15-28D42804008B}"/>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@bellescupids</a:t>
            </a:r>
          </a:p>
        </p:txBody>
      </p:sp>
      <p:sp>
        <p:nvSpPr>
          <p:cNvPr id="8" name="">
            <a:extLst xmlns:a="http://schemas.openxmlformats.org/drawingml/2006/main">
              <a:ext uri="{FF2B5EF4-FFF2-40B4-BE49-F238E27FC236}">
                <a16:creationId xmlns:a16="http://schemas.microsoft.com/office/drawing/2014/main" id="{E7B2CE5F-D2A6-4996-90BB-01C7A4291721}"/>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21B945A6-2795-47D4-884E-94962CCCA95A}"/>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-68%</a:t>
            </a:r>
          </a:p>
        </p:txBody>
      </p:sp>
      <p:sp>
        <p:nvSpPr>
          <p:cNvPr id="10" name="">
            <a:extLst xmlns:a="http://schemas.openxmlformats.org/drawingml/2006/main">
              <a:ext uri="{FF2B5EF4-FFF2-40B4-BE49-F238E27FC236}">
                <a16:creationId xmlns:a16="http://schemas.microsoft.com/office/drawing/2014/main" id="{1C45631E-5EC7-4BF8-AA6A-F005047E17B6}"/>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65,188  |  Oct 1-8: 20,839</a:t>
            </a:r>
          </a:p>
        </p:txBody>
      </p:sp>
      <p:sp>
        <p:nvSpPr>
          <p:cNvPr id="11" name="">
            <a:extLst xmlns:a="http://schemas.openxmlformats.org/drawingml/2006/main">
              <a:ext uri="{FF2B5EF4-FFF2-40B4-BE49-F238E27FC236}">
                <a16:creationId xmlns:a16="http://schemas.microsoft.com/office/drawing/2014/main" id="{443B3A86-670B-4F52-BA5E-636B4C9ABBDC}"/>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F689CB8C-7A77-436E-8966-C35A010DE440}"/>
              </a:ext>
            </a:extLst>
          </p:cNvPr>
          <p:cNvSpPr>
            <a:spLocks xmlns:a="http://schemas.openxmlformats.org/drawingml/2006/main" noGrp="1"/>
          </p:cNvSpPr>
          <p:nvPr/>
        </p:nvSpPr>
        <p:spPr>
          <a:xfrm xmlns:a="http://schemas.openxmlformats.org/drawingml/2006/main">
            <a:off x="4000500" y="2809875"/>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Matches 13% of Sep 1-8 (19/148)</a:t>
            </a:r>
          </a:p>
          <a:p xmlns:a="http://schemas.openxmlformats.org/drawingml/2006/main">
            <a:pPr>
              <a:defRPr sz="1200" b="0">
                <a:solidFill>
                  <a:srgbClr val="F7F4EC"/>
                </a:solidFill>
              </a:defRPr>
            </a:pPr>
            <a:r>
              <a:rPr sz="1200" b="0">
                <a:solidFill>
                  <a:srgbClr val="F7F4EC"/>
                </a:solidFill>
              </a:rPr>
              <a:t>Hours 32% of Sep 1-8 (9h/29h)</a:t>
            </a:r>
          </a:p>
        </p:txBody>
      </p:sp>
      <p:sp>
        <p:nvSpPr>
          <p:cNvPr id="13" name="">
            <a:extLst xmlns:a="http://schemas.openxmlformats.org/drawingml/2006/main">
              <a:ext uri="{FF2B5EF4-FFF2-40B4-BE49-F238E27FC236}">
                <a16:creationId xmlns:a16="http://schemas.microsoft.com/office/drawing/2014/main" id="{F1B9C77A-C3AB-4B2A-A9FE-7B39B48AF180}"/>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AEB2805E-C969-4DDE-9CBD-DE3885DA85E6}"/>
              </a:ext>
            </a:extLst>
          </p:cNvPr>
          <p:cNvSpPr>
            <a:spLocks xmlns:a="http://schemas.openxmlformats.org/drawingml/2006/main" noGrp="1"/>
          </p:cNvSpPr>
          <p:nvPr/>
        </p:nvSpPr>
        <p:spPr>
          <a:xfrm xmlns:a="http://schemas.openxmlformats.org/drawingml/2006/main">
            <a:off x="7620000" y="2809875"/>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32%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CE83931B-B13E-4675-98E7-B1D7293C0B97}"/>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18</a:t>
            </a:r>
          </a:p>
        </p:txBody>
      </p:sp>
    </p:spTree>
    <p:extLst>
      <p:ext uri="{BB962C8B-B14F-4D97-AF65-F5344CB8AC3E}">
        <p14:creationId xmlns:p14="http://schemas.microsoft.com/office/powerpoint/2010/main" val="1868890474"/>
      </p:ext>
    </p:extLst>
  </p:cSld>
</p:sld>
</file>

<file path=ppt/slides/slide19.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2338566-194F-4296-93BE-B35A8A30B4D6}"/>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57A43FB9-E16F-496F-87EF-5FD881E02197}"/>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BA225589-31FC-421C-AE7D-937D9E3A5581}"/>
              </a:ext>
            </a:extLst>
          </p:cNvPr>
          <p:cNvPicPr>
            <a:picLocks xmlns:a="http://schemas.openxmlformats.org/drawingml/2006/main" noChangeAspect="1"/>
          </p:cNvPicPr>
          <p:nvPr/>
        </p:nvPicPr>
        <p:blipFill>
          <a:blip xmlns:r="http://schemas.openxmlformats.org/officeDocument/2006/relationships" xmlns:a="http://schemas.openxmlformats.org/drawingml/2006/main" r:embed="Ra6b5a6a71bb74b21"/>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093B4DA-D762-4F07-A7AA-3E7E4EDB8041}"/>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firstclassagency_olivia@outlook.com</a:t>
            </a:r>
          </a:p>
        </p:txBody>
      </p:sp>
      <p:sp>
        <p:nvSpPr>
          <p:cNvPr id="5" name="">
            <a:extLst xmlns:a="http://schemas.openxmlformats.org/drawingml/2006/main">
              <a:ext uri="{FF2B5EF4-FFF2-40B4-BE49-F238E27FC236}">
                <a16:creationId xmlns:a16="http://schemas.microsoft.com/office/drawing/2014/main" id="{7342A32E-4BDF-40FF-B8EA-DE284B24202A}"/>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59F4741B-A461-44DE-A1A6-462DE38A85DC}"/>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200F60AB-B50C-4C38-AE17-2DACEBF6D896}"/>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@albi.j10</a:t>
            </a:r>
          </a:p>
        </p:txBody>
      </p:sp>
      <p:sp>
        <p:nvSpPr>
          <p:cNvPr id="8" name="">
            <a:extLst xmlns:a="http://schemas.openxmlformats.org/drawingml/2006/main">
              <a:ext uri="{FF2B5EF4-FFF2-40B4-BE49-F238E27FC236}">
                <a16:creationId xmlns:a16="http://schemas.microsoft.com/office/drawing/2014/main" id="{2B5BBA45-734F-416D-B989-BFD4ABCB6DFC}"/>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071F6BC1-5734-4DA5-9839-CE0939526A5C}"/>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-69%</a:t>
            </a:r>
          </a:p>
        </p:txBody>
      </p:sp>
      <p:sp>
        <p:nvSpPr>
          <p:cNvPr id="10" name="">
            <a:extLst xmlns:a="http://schemas.openxmlformats.org/drawingml/2006/main">
              <a:ext uri="{FF2B5EF4-FFF2-40B4-BE49-F238E27FC236}">
                <a16:creationId xmlns:a16="http://schemas.microsoft.com/office/drawing/2014/main" id="{F1E299E3-6A8F-4727-9C14-94280B84E710}"/>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91,744  |  Oct 1-8: 28,232</a:t>
            </a:r>
          </a:p>
        </p:txBody>
      </p:sp>
      <p:sp>
        <p:nvSpPr>
          <p:cNvPr id="11" name="">
            <a:extLst xmlns:a="http://schemas.openxmlformats.org/drawingml/2006/main">
              <a:ext uri="{FF2B5EF4-FFF2-40B4-BE49-F238E27FC236}">
                <a16:creationId xmlns:a16="http://schemas.microsoft.com/office/drawing/2014/main" id="{402881E0-EC3D-4729-A28C-9D4B4B79670A}"/>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CD8E69A7-8CEE-46BB-AA22-F9E6D2BC629F}"/>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Matches 4% of Sep 1-8 (4/99)</a:t>
            </a:r>
          </a:p>
          <a:p xmlns:a="http://schemas.openxmlformats.org/drawingml/2006/main">
            <a:pPr>
              <a:defRPr sz="1200" b="0">
                <a:solidFill>
                  <a:srgbClr val="F7F4EC"/>
                </a:solidFill>
              </a:defRPr>
            </a:pPr>
            <a:r>
              <a:rPr sz="1200" b="0">
                <a:solidFill>
                  <a:srgbClr val="F7F4EC"/>
                </a:solidFill>
              </a:rPr>
              <a:t>Hours 30% of Sep 1-8 (3h/11h)</a:t>
            </a:r>
          </a:p>
        </p:txBody>
      </p:sp>
      <p:sp>
        <p:nvSpPr>
          <p:cNvPr id="13" name="">
            <a:extLst xmlns:a="http://schemas.openxmlformats.org/drawingml/2006/main">
              <a:ext uri="{FF2B5EF4-FFF2-40B4-BE49-F238E27FC236}">
                <a16:creationId xmlns:a16="http://schemas.microsoft.com/office/drawing/2014/main" id="{FF02DF33-3C40-4D3A-8238-CD7008EE56DE}"/>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2AFAE251-8766-4C28-A0F1-BF70A4B0500B}"/>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30%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2188725F-4A1E-46C0-AD20-F104639E5E8E}"/>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44B4ADF1-9856-4EEE-ABB2-F82DDD30666E}"/>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@leighanne.thomson</a:t>
            </a:r>
          </a:p>
        </p:txBody>
      </p:sp>
      <p:sp>
        <p:nvSpPr>
          <p:cNvPr id="17" name="">
            <a:extLst xmlns:a="http://schemas.openxmlformats.org/drawingml/2006/main">
              <a:ext uri="{FF2B5EF4-FFF2-40B4-BE49-F238E27FC236}">
                <a16:creationId xmlns:a16="http://schemas.microsoft.com/office/drawing/2014/main" id="{6FF5015B-3F6B-4429-90F0-5AD126DE225B}"/>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0C2A86BF-93FF-4579-AD29-47B992C6D0A6}"/>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-59%</a:t>
            </a:r>
          </a:p>
        </p:txBody>
      </p:sp>
      <p:sp>
        <p:nvSpPr>
          <p:cNvPr id="19" name="">
            <a:extLst xmlns:a="http://schemas.openxmlformats.org/drawingml/2006/main">
              <a:ext uri="{FF2B5EF4-FFF2-40B4-BE49-F238E27FC236}">
                <a16:creationId xmlns:a16="http://schemas.microsoft.com/office/drawing/2014/main" id="{57F18E5C-AADB-4446-91CE-0C25A864B6E3}"/>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83,965  |  Oct 1-8: 34,526</a:t>
            </a:r>
          </a:p>
        </p:txBody>
      </p:sp>
      <p:sp>
        <p:nvSpPr>
          <p:cNvPr id="20" name="">
            <a:extLst xmlns:a="http://schemas.openxmlformats.org/drawingml/2006/main">
              <a:ext uri="{FF2B5EF4-FFF2-40B4-BE49-F238E27FC236}">
                <a16:creationId xmlns:a16="http://schemas.microsoft.com/office/drawing/2014/main" id="{025272EA-200A-4979-AA45-CB077E8A411F}"/>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86B2793E-5BB4-42BC-8C9D-5835A11D9A19}"/>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41% of Sep 1-8 (34.5k/84.0k)</a:t>
            </a:r>
          </a:p>
          <a:p xmlns:a="http://schemas.openxmlformats.org/drawingml/2006/main">
            <a:pPr>
              <a:defRPr sz="1200" b="0">
                <a:solidFill>
                  <a:srgbClr val="F7F4EC"/>
                </a:solidFill>
              </a:defRPr>
            </a:pPr>
            <a:r>
              <a:rPr sz="1200" b="0">
                <a:solidFill>
                  <a:srgbClr val="F7F4EC"/>
                </a:solidFill>
              </a:rPr>
              <a:t>Hours 75% of Sep 1-8 (20h/27h)</a:t>
            </a:r>
          </a:p>
        </p:txBody>
      </p:sp>
      <p:sp>
        <p:nvSpPr>
          <p:cNvPr id="22" name="">
            <a:extLst xmlns:a="http://schemas.openxmlformats.org/drawingml/2006/main">
              <a:ext uri="{FF2B5EF4-FFF2-40B4-BE49-F238E27FC236}">
                <a16:creationId xmlns:a16="http://schemas.microsoft.com/office/drawing/2014/main" id="{E4C2FFF9-7B94-4044-A2AB-F03974B53E6B}"/>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207377AC-77BA-49AD-B5A4-ED4D14A0FE44}"/>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75% of their September level. Ask what is stopping them from going live, then agree a realistic weekly live schedule and check it is followed.</a:t>
            </a:r>
          </a:p>
        </p:txBody>
      </p:sp>
      <p:sp>
        <p:nvSpPr>
          <p:cNvPr id="24" name="">
            <a:extLst xmlns:a="http://schemas.openxmlformats.org/drawingml/2006/main">
              <a:ext uri="{FF2B5EF4-FFF2-40B4-BE49-F238E27FC236}">
                <a16:creationId xmlns:a16="http://schemas.microsoft.com/office/drawing/2014/main" id="{04050804-D712-40D7-ACEF-0D60740CAABC}"/>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19</a:t>
            </a:r>
          </a:p>
        </p:txBody>
      </p:sp>
    </p:spTree>
    <p:extLst>
      <p:ext uri="{BB962C8B-B14F-4D97-AF65-F5344CB8AC3E}">
        <p14:creationId xmlns:p14="http://schemas.microsoft.com/office/powerpoint/2010/main" val="1509796563"/>
      </p:ext>
    </p:extLst>
  </p:cSld>
</p:sld>
</file>

<file path=ppt/slides/slide20.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468AE13-C5A5-4C8B-A260-9A7C9E3EA939}"/>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86084C17-4A86-41FD-B51A-A51DF3F67560}"/>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FDE75C85-6178-43B1-9664-051FA22B1769}"/>
              </a:ext>
            </a:extLst>
          </p:cNvPr>
          <p:cNvPicPr>
            <a:picLocks xmlns:a="http://schemas.openxmlformats.org/drawingml/2006/main" noChangeAspect="1"/>
          </p:cNvPicPr>
          <p:nvPr/>
        </p:nvPicPr>
        <p:blipFill>
          <a:blip xmlns:r="http://schemas.openxmlformats.org/officeDocument/2006/relationships" xmlns:a="http://schemas.openxmlformats.org/drawingml/2006/main" r:embed="Rbb4e31c76245427e"/>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E8C669-9717-4E25-BBD2-23D2DDF813C1}"/>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firstclassagency_olivia@outlook.com</a:t>
            </a:r>
          </a:p>
        </p:txBody>
      </p:sp>
      <p:sp>
        <p:nvSpPr>
          <p:cNvPr id="5" name="">
            <a:extLst xmlns:a="http://schemas.openxmlformats.org/drawingml/2006/main">
              <a:ext uri="{FF2B5EF4-FFF2-40B4-BE49-F238E27FC236}">
                <a16:creationId xmlns:a16="http://schemas.microsoft.com/office/drawing/2014/main" id="{1A614325-F001-44C5-93A1-8D1B7CD35A4C}"/>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0DDC8018-6410-41B3-B28A-B35F82E3AB4E}"/>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5057D203-1A00-44BD-87D7-221444B6492F}"/>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@kleelou_ygam_kiki</a:t>
            </a:r>
          </a:p>
        </p:txBody>
      </p:sp>
      <p:sp>
        <p:nvSpPr>
          <p:cNvPr id="8" name="">
            <a:extLst xmlns:a="http://schemas.openxmlformats.org/drawingml/2006/main">
              <a:ext uri="{FF2B5EF4-FFF2-40B4-BE49-F238E27FC236}">
                <a16:creationId xmlns:a16="http://schemas.microsoft.com/office/drawing/2014/main" id="{E9DB41CF-D97F-48E6-BBE7-86525B8934D8}"/>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5F120A70-058E-4064-B38C-6FB3A0620FBC}"/>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-30%</a:t>
            </a:r>
          </a:p>
        </p:txBody>
      </p:sp>
      <p:sp>
        <p:nvSpPr>
          <p:cNvPr id="10" name="">
            <a:extLst xmlns:a="http://schemas.openxmlformats.org/drawingml/2006/main">
              <a:ext uri="{FF2B5EF4-FFF2-40B4-BE49-F238E27FC236}">
                <a16:creationId xmlns:a16="http://schemas.microsoft.com/office/drawing/2014/main" id="{8E36B4EC-369A-4552-BF3D-5F0951F66B7D}"/>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107,637  |  Oct 1-8: 75,396</a:t>
            </a:r>
          </a:p>
        </p:txBody>
      </p:sp>
      <p:sp>
        <p:nvSpPr>
          <p:cNvPr id="11" name="">
            <a:extLst xmlns:a="http://schemas.openxmlformats.org/drawingml/2006/main">
              <a:ext uri="{FF2B5EF4-FFF2-40B4-BE49-F238E27FC236}">
                <a16:creationId xmlns:a16="http://schemas.microsoft.com/office/drawing/2014/main" id="{36841201-182F-415A-96A6-118B0960B56E}"/>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16D6B000-FFB8-47AE-9134-C0D92375CCFC}"/>
              </a:ext>
            </a:extLst>
          </p:cNvPr>
          <p:cNvSpPr>
            <a:spLocks xmlns:a="http://schemas.openxmlformats.org/drawingml/2006/main" noGrp="1"/>
          </p:cNvSpPr>
          <p:nvPr/>
        </p:nvSpPr>
        <p:spPr>
          <a:xfrm xmlns:a="http://schemas.openxmlformats.org/drawingml/2006/main">
            <a:off x="4000500" y="2809875"/>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Same activity; diamonds 70% of Sep 1-8</a:t>
            </a:r>
          </a:p>
        </p:txBody>
      </p:sp>
      <p:sp>
        <p:nvSpPr>
          <p:cNvPr id="13" name="">
            <a:extLst xmlns:a="http://schemas.openxmlformats.org/drawingml/2006/main">
              <a:ext uri="{FF2B5EF4-FFF2-40B4-BE49-F238E27FC236}">
                <a16:creationId xmlns:a16="http://schemas.microsoft.com/office/drawing/2014/main" id="{87526E07-EA54-495A-BDA1-00CAE61F2536}"/>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A5923BD8-EF46-4AE6-9FF5-41081050AB20}"/>
              </a:ext>
            </a:extLst>
          </p:cNvPr>
          <p:cNvSpPr>
            <a:spLocks xmlns:a="http://schemas.openxmlformats.org/drawingml/2006/main" noGrp="1"/>
          </p:cNvSpPr>
          <p:nvPr/>
        </p:nvSpPr>
        <p:spPr>
          <a:xfrm xmlns:a="http://schemas.openxmlformats.org/drawingml/2006/main">
            <a:off x="7620000" y="2809875"/>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They are putting in similar live time but earning less. Review their visual quality, consistency, stream set-up and how they convert viewers while live.</a:t>
            </a:r>
          </a:p>
        </p:txBody>
      </p:sp>
      <p:sp>
        <p:nvSpPr>
          <p:cNvPr id="15" name="">
            <a:extLst xmlns:a="http://schemas.openxmlformats.org/drawingml/2006/main">
              <a:ext uri="{FF2B5EF4-FFF2-40B4-BE49-F238E27FC236}">
                <a16:creationId xmlns:a16="http://schemas.microsoft.com/office/drawing/2014/main" id="{2305BFC0-9FB7-4E4A-A844-98ECF23097AB}"/>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20</a:t>
            </a:r>
          </a:p>
        </p:txBody>
      </p:sp>
    </p:spTree>
    <p:extLst>
      <p:ext uri="{BB962C8B-B14F-4D97-AF65-F5344CB8AC3E}">
        <p14:creationId xmlns:p14="http://schemas.microsoft.com/office/powerpoint/2010/main" val="1616540844"/>
      </p:ext>
    </p:extLst>
  </p:cSld>
</p:sld>
</file>

<file path=ppt/slides/slide21.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A94806D-6EA1-4900-89B6-D1FFD58C0017}"/>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0BB91D22-CAC5-4C59-909F-F4B2C843639A}"/>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1BF301C9-BCD2-4949-B784-6BAFB5DE12B4}"/>
              </a:ext>
            </a:extLst>
          </p:cNvPr>
          <p:cNvPicPr>
            <a:picLocks xmlns:a="http://schemas.openxmlformats.org/drawingml/2006/main" noChangeAspect="1"/>
          </p:cNvPicPr>
          <p:nvPr/>
        </p:nvPicPr>
        <p:blipFill>
          <a:blip xmlns:r="http://schemas.openxmlformats.org/officeDocument/2006/relationships" xmlns:a="http://schemas.openxmlformats.org/drawingml/2006/main" r:embed="Rfeb163c3f00243f2"/>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A777A1D-4F6E-4C99-BAC1-771D82F20CB2}"/>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georgialilly.glow@gmail.com</a:t>
            </a:r>
          </a:p>
        </p:txBody>
      </p:sp>
      <p:sp>
        <p:nvSpPr>
          <p:cNvPr id="5" name="">
            <a:extLst xmlns:a="http://schemas.openxmlformats.org/drawingml/2006/main">
              <a:ext uri="{FF2B5EF4-FFF2-40B4-BE49-F238E27FC236}">
                <a16:creationId xmlns:a16="http://schemas.microsoft.com/office/drawing/2014/main" id="{A19D831F-EFDA-4BED-88D6-8B792CAFD47F}"/>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AA6DC23F-994F-4B2F-8918-2A4B79EECB3D}"/>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930902DB-F05F-4071-848E-03AD9CB2C3D1}"/>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@failuretothrive2008</a:t>
            </a:r>
          </a:p>
        </p:txBody>
      </p:sp>
      <p:sp>
        <p:nvSpPr>
          <p:cNvPr id="8" name="">
            <a:extLst xmlns:a="http://schemas.openxmlformats.org/drawingml/2006/main">
              <a:ext uri="{FF2B5EF4-FFF2-40B4-BE49-F238E27FC236}">
                <a16:creationId xmlns:a16="http://schemas.microsoft.com/office/drawing/2014/main" id="{6E81E222-1AE8-45F0-A021-FDFD224B1FF1}"/>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718C7B81-623C-49CB-B3E1-1CCD65C46CA0}"/>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-24%</a:t>
            </a:r>
          </a:p>
        </p:txBody>
      </p:sp>
      <p:sp>
        <p:nvSpPr>
          <p:cNvPr id="10" name="">
            <a:extLst xmlns:a="http://schemas.openxmlformats.org/drawingml/2006/main">
              <a:ext uri="{FF2B5EF4-FFF2-40B4-BE49-F238E27FC236}">
                <a16:creationId xmlns:a16="http://schemas.microsoft.com/office/drawing/2014/main" id="{97425F1A-19D5-4680-B734-3EDBD5F2A9F0}"/>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357,181  |  Oct 1-8: 271,197</a:t>
            </a:r>
          </a:p>
        </p:txBody>
      </p:sp>
      <p:sp>
        <p:nvSpPr>
          <p:cNvPr id="11" name="">
            <a:extLst xmlns:a="http://schemas.openxmlformats.org/drawingml/2006/main">
              <a:ext uri="{FF2B5EF4-FFF2-40B4-BE49-F238E27FC236}">
                <a16:creationId xmlns:a16="http://schemas.microsoft.com/office/drawing/2014/main" id="{E609AC14-76FA-4B86-985E-E920339877BD}"/>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AC8537B8-3ABC-45A8-9A0A-467A879FCDC5}"/>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Streams 65% of Sep 1-8 (13/20)</a:t>
            </a:r>
          </a:p>
          <a:p xmlns:a="http://schemas.openxmlformats.org/drawingml/2006/main">
            <a:pPr>
              <a:defRPr sz="1200" b="0">
                <a:solidFill>
                  <a:srgbClr val="F7F4EC"/>
                </a:solidFill>
              </a:defRPr>
            </a:pPr>
            <a:r>
              <a:rPr sz="1200" b="0">
                <a:solidFill>
                  <a:srgbClr val="F7F4EC"/>
                </a:solidFill>
              </a:rPr>
              <a:t>Matches 78% of Sep 1-8 (331/423)</a:t>
            </a:r>
          </a:p>
        </p:txBody>
      </p:sp>
      <p:sp>
        <p:nvSpPr>
          <p:cNvPr id="13" name="">
            <a:extLst xmlns:a="http://schemas.openxmlformats.org/drawingml/2006/main">
              <a:ext uri="{FF2B5EF4-FFF2-40B4-BE49-F238E27FC236}">
                <a16:creationId xmlns:a16="http://schemas.microsoft.com/office/drawing/2014/main" id="{E8E372BF-CC71-4BE9-A9CD-C29216149A2D}"/>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ECFED35D-E226-4D09-BB1B-3209D416984F}"/>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They are starting fewer streams than usual. Agree fixed live slots for the week and make sure those slots are protected.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18BAE19D-7996-47CE-BE49-A0EA99088AF9}"/>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62D857DF-E7A1-465D-BC2B-8847C818207E}"/>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@dens2511</a:t>
            </a:r>
          </a:p>
        </p:txBody>
      </p:sp>
      <p:sp>
        <p:nvSpPr>
          <p:cNvPr id="17" name="">
            <a:extLst xmlns:a="http://schemas.openxmlformats.org/drawingml/2006/main">
              <a:ext uri="{FF2B5EF4-FFF2-40B4-BE49-F238E27FC236}">
                <a16:creationId xmlns:a16="http://schemas.microsoft.com/office/drawing/2014/main" id="{AEF1ED75-5976-49D5-A627-770E8C11B7EF}"/>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1E2736E2-B64B-4B34-A38E-FC733650CC91}"/>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-74%</a:t>
            </a:r>
          </a:p>
        </p:txBody>
      </p:sp>
      <p:sp>
        <p:nvSpPr>
          <p:cNvPr id="19" name="">
            <a:extLst xmlns:a="http://schemas.openxmlformats.org/drawingml/2006/main">
              <a:ext uri="{FF2B5EF4-FFF2-40B4-BE49-F238E27FC236}">
                <a16:creationId xmlns:a16="http://schemas.microsoft.com/office/drawing/2014/main" id="{B362ADBB-6F97-4B21-A9D3-95BA6972F640}"/>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103,216  |  Oct 1-8: 26,583</a:t>
            </a:r>
          </a:p>
        </p:txBody>
      </p:sp>
      <p:sp>
        <p:nvSpPr>
          <p:cNvPr id="20" name="">
            <a:extLst xmlns:a="http://schemas.openxmlformats.org/drawingml/2006/main">
              <a:ext uri="{FF2B5EF4-FFF2-40B4-BE49-F238E27FC236}">
                <a16:creationId xmlns:a16="http://schemas.microsoft.com/office/drawing/2014/main" id="{09AA5629-0780-4178-98C2-93A7641DBA68}"/>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AC71E186-5E8D-4749-92B3-DE2672A129F4}"/>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Streams 35% of Sep 1-8 (6/17)</a:t>
            </a:r>
          </a:p>
          <a:p xmlns:a="http://schemas.openxmlformats.org/drawingml/2006/main">
            <a:pPr>
              <a:defRPr sz="1200" b="0">
                <a:solidFill>
                  <a:srgbClr val="F7F4EC"/>
                </a:solidFill>
              </a:defRPr>
            </a:pPr>
            <a:r>
              <a:rPr sz="1200" b="0">
                <a:solidFill>
                  <a:srgbClr val="F7F4EC"/>
                </a:solidFill>
              </a:rPr>
              <a:t>Diamonds 26% of Sep 1-8 (26.6k/103.2k)</a:t>
            </a:r>
          </a:p>
        </p:txBody>
      </p:sp>
      <p:sp>
        <p:nvSpPr>
          <p:cNvPr id="22" name="">
            <a:extLst xmlns:a="http://schemas.openxmlformats.org/drawingml/2006/main">
              <a:ext uri="{FF2B5EF4-FFF2-40B4-BE49-F238E27FC236}">
                <a16:creationId xmlns:a16="http://schemas.microsoft.com/office/drawing/2014/main" id="{C96F6199-5A6D-4EE1-BBC3-C9705216FAA4}"/>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156D803F-E69A-4E61-9E7C-EFA6B0426E0C}"/>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55%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85A10190-C8D8-4828-A1B5-E40F5EF76781}"/>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21</a:t>
            </a:r>
          </a:p>
        </p:txBody>
      </p:sp>
    </p:spTree>
    <p:extLst>
      <p:ext uri="{BB962C8B-B14F-4D97-AF65-F5344CB8AC3E}">
        <p14:creationId xmlns:p14="http://schemas.microsoft.com/office/powerpoint/2010/main" val="1479696578"/>
      </p:ext>
    </p:extLst>
  </p:cSld>
</p:sld>
</file>

<file path=ppt/slides/slide22.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154B25C-A4DE-4734-8DE7-94BFCC6F0F7F}"/>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B5F2AE0B-A308-4B78-B3D4-DC3BD74E2B4F}"/>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C572FE58-F9E3-47C1-83F8-548A0D5152BE}"/>
              </a:ext>
            </a:extLst>
          </p:cNvPr>
          <p:cNvPicPr>
            <a:picLocks xmlns:a="http://schemas.openxmlformats.org/drawingml/2006/main" noChangeAspect="1"/>
          </p:cNvPicPr>
          <p:nvPr/>
        </p:nvPicPr>
        <p:blipFill>
          <a:blip xmlns:r="http://schemas.openxmlformats.org/officeDocument/2006/relationships" xmlns:a="http://schemas.openxmlformats.org/drawingml/2006/main" r:embed="R09bac74871a24337"/>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5854A72-C8D8-494A-AE13-872FEBDE1B30}"/>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hollyshepherd-97@outlook.com</a:t>
            </a:r>
          </a:p>
        </p:txBody>
      </p:sp>
      <p:sp>
        <p:nvSpPr>
          <p:cNvPr id="5" name="">
            <a:extLst xmlns:a="http://schemas.openxmlformats.org/drawingml/2006/main">
              <a:ext uri="{FF2B5EF4-FFF2-40B4-BE49-F238E27FC236}">
                <a16:creationId xmlns:a16="http://schemas.microsoft.com/office/drawing/2014/main" id="{B3FC900B-1C66-42D1-B500-72BC1B9485E7}"/>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C77C3115-AA86-4A2D-B5D9-3D538C1C4C59}"/>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B7D55CB6-1E31-48D3-83D6-96C6359C35A3}"/>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@xlaurenj11x</a:t>
            </a:r>
          </a:p>
        </p:txBody>
      </p:sp>
      <p:sp>
        <p:nvSpPr>
          <p:cNvPr id="8" name="">
            <a:extLst xmlns:a="http://schemas.openxmlformats.org/drawingml/2006/main">
              <a:ext uri="{FF2B5EF4-FFF2-40B4-BE49-F238E27FC236}">
                <a16:creationId xmlns:a16="http://schemas.microsoft.com/office/drawing/2014/main" id="{2738E1C7-1448-4825-811E-236DD3C736EF}"/>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AAB69713-54BE-477C-AE8C-486BCD25D97E}"/>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-43%</a:t>
            </a:r>
          </a:p>
        </p:txBody>
      </p:sp>
      <p:sp>
        <p:nvSpPr>
          <p:cNvPr id="10" name="">
            <a:extLst xmlns:a="http://schemas.openxmlformats.org/drawingml/2006/main">
              <a:ext uri="{FF2B5EF4-FFF2-40B4-BE49-F238E27FC236}">
                <a16:creationId xmlns:a16="http://schemas.microsoft.com/office/drawing/2014/main" id="{0ACD4B6E-E4B8-447A-A7B3-2B0712348517}"/>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77,304  |  Oct 1-8: 44,088</a:t>
            </a:r>
          </a:p>
        </p:txBody>
      </p:sp>
      <p:sp>
        <p:nvSpPr>
          <p:cNvPr id="11" name="">
            <a:extLst xmlns:a="http://schemas.openxmlformats.org/drawingml/2006/main">
              <a:ext uri="{FF2B5EF4-FFF2-40B4-BE49-F238E27FC236}">
                <a16:creationId xmlns:a16="http://schemas.microsoft.com/office/drawing/2014/main" id="{7D198657-2226-45F2-BC7D-DAF4894FB395}"/>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EDBCA4A8-C9A7-4629-886D-7E373EC4563F}"/>
              </a:ext>
            </a:extLst>
          </p:cNvPr>
          <p:cNvSpPr>
            <a:spLocks xmlns:a="http://schemas.openxmlformats.org/drawingml/2006/main" noGrp="1"/>
          </p:cNvSpPr>
          <p:nvPr/>
        </p:nvSpPr>
        <p:spPr>
          <a:xfrm xmlns:a="http://schemas.openxmlformats.org/drawingml/2006/main">
            <a:off x="4000500" y="2809875"/>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Matches 59% of Sep 1-8 (112/190)</a:t>
            </a:r>
          </a:p>
          <a:p xmlns:a="http://schemas.openxmlformats.org/drawingml/2006/main">
            <a:pPr>
              <a:defRPr sz="1200" b="0">
                <a:solidFill>
                  <a:srgbClr val="F7F4EC"/>
                </a:solidFill>
              </a:defRPr>
            </a:pPr>
            <a:r>
              <a:rPr sz="1200" b="0">
                <a:solidFill>
                  <a:srgbClr val="F7F4EC"/>
                </a:solidFill>
              </a:rPr>
              <a:t>Hours 70% of Sep 1-8 (23h/33h)</a:t>
            </a:r>
          </a:p>
        </p:txBody>
      </p:sp>
      <p:sp>
        <p:nvSpPr>
          <p:cNvPr id="13" name="">
            <a:extLst xmlns:a="http://schemas.openxmlformats.org/drawingml/2006/main">
              <a:ext uri="{FF2B5EF4-FFF2-40B4-BE49-F238E27FC236}">
                <a16:creationId xmlns:a16="http://schemas.microsoft.com/office/drawing/2014/main" id="{1DB57101-45DA-4EE0-99AF-24053F1246F0}"/>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8152DE53-9C1E-4657-BF20-488F3AA8E044}"/>
              </a:ext>
            </a:extLst>
          </p:cNvPr>
          <p:cNvSpPr>
            <a:spLocks xmlns:a="http://schemas.openxmlformats.org/drawingml/2006/main" noGrp="1"/>
          </p:cNvSpPr>
          <p:nvPr/>
        </p:nvSpPr>
        <p:spPr>
          <a:xfrm xmlns:a="http://schemas.openxmlformats.org/drawingml/2006/main">
            <a:off x="7620000" y="2809875"/>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70%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9E46D9B9-0DFA-4CF7-AE73-C94096643949}"/>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22</a:t>
            </a:r>
          </a:p>
        </p:txBody>
      </p:sp>
    </p:spTree>
    <p:extLst>
      <p:ext uri="{BB962C8B-B14F-4D97-AF65-F5344CB8AC3E}">
        <p14:creationId xmlns:p14="http://schemas.microsoft.com/office/powerpoint/2010/main" val="441676100"/>
      </p:ext>
    </p:extLst>
  </p:cSld>
</p:sld>
</file>

<file path=ppt/slides/slide23.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1B1D85-6B04-4469-9509-F6430138FCB3}"/>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092B3997-0781-4749-B288-D433D52486FA}"/>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24307D2B-4CA4-43E6-B9B8-0DD156E388A6}"/>
              </a:ext>
            </a:extLst>
          </p:cNvPr>
          <p:cNvPicPr>
            <a:picLocks xmlns:a="http://schemas.openxmlformats.org/drawingml/2006/main" noChangeAspect="1"/>
          </p:cNvPicPr>
          <p:nvPr/>
        </p:nvPicPr>
        <p:blipFill>
          <a:blip xmlns:r="http://schemas.openxmlformats.org/officeDocument/2006/relationships" xmlns:a="http://schemas.openxmlformats.org/drawingml/2006/main" r:embed="R6dd06b1ea0a94151"/>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F0490D3-9235-423A-B42C-C7582386B276}"/>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juggsyrespawn@gmail.com</a:t>
            </a:r>
          </a:p>
        </p:txBody>
      </p:sp>
      <p:sp>
        <p:nvSpPr>
          <p:cNvPr id="5" name="">
            <a:extLst xmlns:a="http://schemas.openxmlformats.org/drawingml/2006/main">
              <a:ext uri="{FF2B5EF4-FFF2-40B4-BE49-F238E27FC236}">
                <a16:creationId xmlns:a16="http://schemas.microsoft.com/office/drawing/2014/main" id="{0B41789E-E9DD-430B-B355-BA8F2AF2C8FD}"/>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FA37324A-2E35-42DB-A85E-D6216AE4CBD4}"/>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8BF76F36-DF7E-4DA9-B9DD-05D54D1EF1CB}"/>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@hellodynamo</a:t>
            </a:r>
          </a:p>
        </p:txBody>
      </p:sp>
      <p:sp>
        <p:nvSpPr>
          <p:cNvPr id="8" name="">
            <a:extLst xmlns:a="http://schemas.openxmlformats.org/drawingml/2006/main">
              <a:ext uri="{FF2B5EF4-FFF2-40B4-BE49-F238E27FC236}">
                <a16:creationId xmlns:a16="http://schemas.microsoft.com/office/drawing/2014/main" id="{6DC89395-25A9-4A62-942E-669DFD71CABD}"/>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E1460F30-0D35-472D-B735-36C9AA71E195}"/>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-88%</a:t>
            </a:r>
          </a:p>
        </p:txBody>
      </p:sp>
      <p:sp>
        <p:nvSpPr>
          <p:cNvPr id="10" name="">
            <a:extLst xmlns:a="http://schemas.openxmlformats.org/drawingml/2006/main">
              <a:ext uri="{FF2B5EF4-FFF2-40B4-BE49-F238E27FC236}">
                <a16:creationId xmlns:a16="http://schemas.microsoft.com/office/drawing/2014/main" id="{A33AB0A5-63CA-457C-B6F6-BD88A7315EEF}"/>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66,378  |  Oct 1-8: 8,057</a:t>
            </a:r>
          </a:p>
        </p:txBody>
      </p:sp>
      <p:sp>
        <p:nvSpPr>
          <p:cNvPr id="11" name="">
            <a:extLst xmlns:a="http://schemas.openxmlformats.org/drawingml/2006/main">
              <a:ext uri="{FF2B5EF4-FFF2-40B4-BE49-F238E27FC236}">
                <a16:creationId xmlns:a16="http://schemas.microsoft.com/office/drawing/2014/main" id="{5E3994DE-92D1-4892-96AD-E293647EDD97}"/>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36F29844-4F01-4C48-8831-B3032708813A}"/>
              </a:ext>
            </a:extLst>
          </p:cNvPr>
          <p:cNvSpPr>
            <a:spLocks xmlns:a="http://schemas.openxmlformats.org/drawingml/2006/main" noGrp="1"/>
          </p:cNvSpPr>
          <p:nvPr/>
        </p:nvSpPr>
        <p:spPr>
          <a:xfrm xmlns:a="http://schemas.openxmlformats.org/drawingml/2006/main">
            <a:off x="4000500" y="2809875"/>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12% of Sep 1-8 (8.1k/66.4k)</a:t>
            </a:r>
          </a:p>
          <a:p xmlns:a="http://schemas.openxmlformats.org/drawingml/2006/main">
            <a:pPr>
              <a:defRPr sz="1200" b="0">
                <a:solidFill>
                  <a:srgbClr val="F7F4EC"/>
                </a:solidFill>
              </a:defRPr>
            </a:pPr>
            <a:r>
              <a:rPr sz="1200" b="0">
                <a:solidFill>
                  <a:srgbClr val="F7F4EC"/>
                </a:solidFill>
              </a:rPr>
              <a:t>Hours 36% of Sep 1-8 (10h/27h)</a:t>
            </a:r>
          </a:p>
        </p:txBody>
      </p:sp>
      <p:sp>
        <p:nvSpPr>
          <p:cNvPr id="13" name="">
            <a:extLst xmlns:a="http://schemas.openxmlformats.org/drawingml/2006/main">
              <a:ext uri="{FF2B5EF4-FFF2-40B4-BE49-F238E27FC236}">
                <a16:creationId xmlns:a16="http://schemas.microsoft.com/office/drawing/2014/main" id="{39BA646F-CB12-46DB-85ED-8117ABEB8761}"/>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0B9C4865-B4D7-4F86-978D-EE1D326524E0}"/>
              </a:ext>
            </a:extLst>
          </p:cNvPr>
          <p:cNvSpPr>
            <a:spLocks xmlns:a="http://schemas.openxmlformats.org/drawingml/2006/main" noGrp="1"/>
          </p:cNvSpPr>
          <p:nvPr/>
        </p:nvSpPr>
        <p:spPr>
          <a:xfrm xmlns:a="http://schemas.openxmlformats.org/drawingml/2006/main">
            <a:off x="7620000" y="2809875"/>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36%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9C30753E-A7E8-4330-84F3-FAB3EC384B71}"/>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23</a:t>
            </a:r>
          </a:p>
        </p:txBody>
      </p:sp>
    </p:spTree>
    <p:extLst>
      <p:ext uri="{BB962C8B-B14F-4D97-AF65-F5344CB8AC3E}">
        <p14:creationId xmlns:p14="http://schemas.microsoft.com/office/powerpoint/2010/main" val="410233267"/>
      </p:ext>
    </p:extLst>
  </p:cSld>
</p:sld>
</file>

<file path=ppt/slides/slide24.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8CC9DD0-186F-4C92-AA5C-DD36444EBFE5}"/>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E1D8911B-1634-40B0-A706-678D0AF3DC64}"/>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DA0EDD8A-8A5F-4EA3-BBAF-B2F51A798BF1}"/>
              </a:ext>
            </a:extLst>
          </p:cNvPr>
          <p:cNvPicPr>
            <a:picLocks xmlns:a="http://schemas.openxmlformats.org/drawingml/2006/main" noChangeAspect="1"/>
          </p:cNvPicPr>
          <p:nvPr/>
        </p:nvPicPr>
        <p:blipFill>
          <a:blip xmlns:r="http://schemas.openxmlformats.org/officeDocument/2006/relationships" xmlns:a="http://schemas.openxmlformats.org/drawingml/2006/main" r:embed="R9547d112a354415b"/>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7E798BB-6DF4-4A3A-8620-6EF390687A99}"/>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kaybon03@icloud.com</a:t>
            </a:r>
          </a:p>
        </p:txBody>
      </p:sp>
      <p:sp>
        <p:nvSpPr>
          <p:cNvPr id="5" name="">
            <a:extLst xmlns:a="http://schemas.openxmlformats.org/drawingml/2006/main">
              <a:ext uri="{FF2B5EF4-FFF2-40B4-BE49-F238E27FC236}">
                <a16:creationId xmlns:a16="http://schemas.microsoft.com/office/drawing/2014/main" id="{E8F9C1DF-2AF8-4A1B-84D2-99DBF86D2308}"/>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B5C2B2A8-240C-4FD8-9B72-8675B3976E8D}"/>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3848E1B7-9135-435A-93DF-5D7A4CEC333E}"/>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@kayjb_3</a:t>
            </a:r>
          </a:p>
        </p:txBody>
      </p:sp>
      <p:sp>
        <p:nvSpPr>
          <p:cNvPr id="8" name="">
            <a:extLst xmlns:a="http://schemas.openxmlformats.org/drawingml/2006/main">
              <a:ext uri="{FF2B5EF4-FFF2-40B4-BE49-F238E27FC236}">
                <a16:creationId xmlns:a16="http://schemas.microsoft.com/office/drawing/2014/main" id="{7DD0FB6E-622F-438F-A320-D016ACE3A3DE}"/>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D69622A2-ED09-44BF-965C-E202FB9E708F}"/>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-15%</a:t>
            </a:r>
          </a:p>
        </p:txBody>
      </p:sp>
      <p:sp>
        <p:nvSpPr>
          <p:cNvPr id="10" name="">
            <a:extLst xmlns:a="http://schemas.openxmlformats.org/drawingml/2006/main">
              <a:ext uri="{FF2B5EF4-FFF2-40B4-BE49-F238E27FC236}">
                <a16:creationId xmlns:a16="http://schemas.microsoft.com/office/drawing/2014/main" id="{664D5656-781C-4B03-A206-3603EEF7044B}"/>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350,377  |  Oct 1-8: 298,631</a:t>
            </a:r>
          </a:p>
        </p:txBody>
      </p:sp>
      <p:sp>
        <p:nvSpPr>
          <p:cNvPr id="11" name="">
            <a:extLst xmlns:a="http://schemas.openxmlformats.org/drawingml/2006/main">
              <a:ext uri="{FF2B5EF4-FFF2-40B4-BE49-F238E27FC236}">
                <a16:creationId xmlns:a16="http://schemas.microsoft.com/office/drawing/2014/main" id="{50D51B7F-BC32-4CDA-B8ED-AEE37ABB2A2D}"/>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DC4F24FE-9B6A-46FD-8739-76AD12E9386C}"/>
              </a:ext>
            </a:extLst>
          </p:cNvPr>
          <p:cNvSpPr>
            <a:spLocks xmlns:a="http://schemas.openxmlformats.org/drawingml/2006/main" noGrp="1"/>
          </p:cNvSpPr>
          <p:nvPr/>
        </p:nvSpPr>
        <p:spPr>
          <a:xfrm xmlns:a="http://schemas.openxmlformats.org/drawingml/2006/main">
            <a:off x="4000500" y="2809875"/>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Same activity; diamonds 85% of Sep 1-8</a:t>
            </a:r>
          </a:p>
        </p:txBody>
      </p:sp>
      <p:sp>
        <p:nvSpPr>
          <p:cNvPr id="13" name="">
            <a:extLst xmlns:a="http://schemas.openxmlformats.org/drawingml/2006/main">
              <a:ext uri="{FF2B5EF4-FFF2-40B4-BE49-F238E27FC236}">
                <a16:creationId xmlns:a16="http://schemas.microsoft.com/office/drawing/2014/main" id="{4D1BE3C8-E1EC-4A11-97BA-9CF38A1A40D5}"/>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9967F462-44D6-4116-8F3D-0D449592F2E6}"/>
              </a:ext>
            </a:extLst>
          </p:cNvPr>
          <p:cNvSpPr>
            <a:spLocks xmlns:a="http://schemas.openxmlformats.org/drawingml/2006/main" noGrp="1"/>
          </p:cNvSpPr>
          <p:nvPr/>
        </p:nvSpPr>
        <p:spPr>
          <a:xfrm xmlns:a="http://schemas.openxmlformats.org/drawingml/2006/main">
            <a:off x="7620000" y="2809875"/>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They are putting in similar live time but earning less. Review their visual quality, consistency, stream set-up and how they convert viewers while live.</a:t>
            </a:r>
          </a:p>
        </p:txBody>
      </p:sp>
      <p:sp>
        <p:nvSpPr>
          <p:cNvPr id="15" name="">
            <a:extLst xmlns:a="http://schemas.openxmlformats.org/drawingml/2006/main">
              <a:ext uri="{FF2B5EF4-FFF2-40B4-BE49-F238E27FC236}">
                <a16:creationId xmlns:a16="http://schemas.microsoft.com/office/drawing/2014/main" id="{AB533294-D85C-414A-A845-4789F0FC2000}"/>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24</a:t>
            </a:r>
          </a:p>
        </p:txBody>
      </p:sp>
    </p:spTree>
    <p:extLst>
      <p:ext uri="{BB962C8B-B14F-4D97-AF65-F5344CB8AC3E}">
        <p14:creationId xmlns:p14="http://schemas.microsoft.com/office/powerpoint/2010/main" val="685380949"/>
      </p:ext>
    </p:extLst>
  </p:cSld>
</p:sld>
</file>

<file path=ppt/slides/slide25.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2998F28-BB50-4A60-BBAE-DC35A2711C17}"/>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9E64B206-007C-47AA-86AA-765F11933928}"/>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F99559E7-9B01-42D7-96FC-71DFE38368DE}"/>
              </a:ext>
            </a:extLst>
          </p:cNvPr>
          <p:cNvPicPr>
            <a:picLocks xmlns:a="http://schemas.openxmlformats.org/drawingml/2006/main" noChangeAspect="1"/>
          </p:cNvPicPr>
          <p:nvPr/>
        </p:nvPicPr>
        <p:blipFill>
          <a:blip xmlns:r="http://schemas.openxmlformats.org/officeDocument/2006/relationships" xmlns:a="http://schemas.openxmlformats.org/drawingml/2006/main" r:embed="R996f6cce5002461d"/>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3C44061-BC0F-443A-9AC6-8047EFAFAC91}"/>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luke_matthew121@hotmail.co.uk</a:t>
            </a:r>
          </a:p>
        </p:txBody>
      </p:sp>
      <p:sp>
        <p:nvSpPr>
          <p:cNvPr id="5" name="">
            <a:extLst xmlns:a="http://schemas.openxmlformats.org/drawingml/2006/main">
              <a:ext uri="{FF2B5EF4-FFF2-40B4-BE49-F238E27FC236}">
                <a16:creationId xmlns:a16="http://schemas.microsoft.com/office/drawing/2014/main" id="{84AEB29D-E28A-4F4B-B015-85459BEA075A}"/>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89264BE3-DE45-474E-B024-7737C252B808}"/>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506B722C-A8BF-4711-B46C-3AABED7997F6}"/>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@arrcch</a:t>
            </a:r>
          </a:p>
        </p:txBody>
      </p:sp>
      <p:sp>
        <p:nvSpPr>
          <p:cNvPr id="8" name="">
            <a:extLst xmlns:a="http://schemas.openxmlformats.org/drawingml/2006/main">
              <a:ext uri="{FF2B5EF4-FFF2-40B4-BE49-F238E27FC236}">
                <a16:creationId xmlns:a16="http://schemas.microsoft.com/office/drawing/2014/main" id="{DB7F73F3-3EE8-4B14-8562-8E481DD1A8B8}"/>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8C05AC83-8D50-41FB-BD2D-1C1ADBF4120F}"/>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-47%</a:t>
            </a:r>
          </a:p>
        </p:txBody>
      </p:sp>
      <p:sp>
        <p:nvSpPr>
          <p:cNvPr id="10" name="">
            <a:extLst xmlns:a="http://schemas.openxmlformats.org/drawingml/2006/main">
              <a:ext uri="{FF2B5EF4-FFF2-40B4-BE49-F238E27FC236}">
                <a16:creationId xmlns:a16="http://schemas.microsoft.com/office/drawing/2014/main" id="{B9F4779F-C818-4E50-B1AD-B2464ABBA1E0}"/>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411,343  |  Oct 1-8: 217,185</a:t>
            </a:r>
          </a:p>
        </p:txBody>
      </p:sp>
      <p:sp>
        <p:nvSpPr>
          <p:cNvPr id="11" name="">
            <a:extLst xmlns:a="http://schemas.openxmlformats.org/drawingml/2006/main">
              <a:ext uri="{FF2B5EF4-FFF2-40B4-BE49-F238E27FC236}">
                <a16:creationId xmlns:a16="http://schemas.microsoft.com/office/drawing/2014/main" id="{EDEB8ED5-BA35-4C3B-A261-37BB610C2CAA}"/>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05FE4C9C-031A-462E-9F68-A34AA6CB0104}"/>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53% of Sep 1-8 (217.2k/411.3k)</a:t>
            </a:r>
          </a:p>
          <a:p xmlns:a="http://schemas.openxmlformats.org/drawingml/2006/main">
            <a:pPr>
              <a:defRPr sz="1200" b="0">
                <a:solidFill>
                  <a:srgbClr val="F7F4EC"/>
                </a:solidFill>
              </a:defRPr>
            </a:pPr>
            <a:r>
              <a:rPr sz="1200" b="0">
                <a:solidFill>
                  <a:srgbClr val="F7F4EC"/>
                </a:solidFill>
              </a:rPr>
              <a:t>Hours 72% of Sep 1-8 (20h/28h)</a:t>
            </a:r>
          </a:p>
        </p:txBody>
      </p:sp>
      <p:sp>
        <p:nvSpPr>
          <p:cNvPr id="13" name="">
            <a:extLst xmlns:a="http://schemas.openxmlformats.org/drawingml/2006/main">
              <a:ext uri="{FF2B5EF4-FFF2-40B4-BE49-F238E27FC236}">
                <a16:creationId xmlns:a16="http://schemas.microsoft.com/office/drawing/2014/main" id="{57174C4C-381B-462C-95FA-FBB72A89C7E5}"/>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0482AE65-9FF2-4B0A-8789-44229CFB74EF}"/>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72%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91011161-F854-4BF4-B8AA-CE68DAAA1064}"/>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B12A3ABC-33E7-467F-B78B-8450BFAFB1BD}"/>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@glenifarr</a:t>
            </a:r>
          </a:p>
        </p:txBody>
      </p:sp>
      <p:sp>
        <p:nvSpPr>
          <p:cNvPr id="17" name="">
            <a:extLst xmlns:a="http://schemas.openxmlformats.org/drawingml/2006/main">
              <a:ext uri="{FF2B5EF4-FFF2-40B4-BE49-F238E27FC236}">
                <a16:creationId xmlns:a16="http://schemas.microsoft.com/office/drawing/2014/main" id="{1344E57B-4EF3-4638-B2FD-2EA2B353D711}"/>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1ADB4E95-8879-4878-BB2D-EE554024F531}"/>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-96%</a:t>
            </a:r>
          </a:p>
        </p:txBody>
      </p:sp>
      <p:sp>
        <p:nvSpPr>
          <p:cNvPr id="19" name="">
            <a:extLst xmlns:a="http://schemas.openxmlformats.org/drawingml/2006/main">
              <a:ext uri="{FF2B5EF4-FFF2-40B4-BE49-F238E27FC236}">
                <a16:creationId xmlns:a16="http://schemas.microsoft.com/office/drawing/2014/main" id="{E9118ED6-CAAF-4C75-84BB-1E2431FC0423}"/>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119,870  |  Oct 1-8: 5,231</a:t>
            </a:r>
          </a:p>
        </p:txBody>
      </p:sp>
      <p:sp>
        <p:nvSpPr>
          <p:cNvPr id="20" name="">
            <a:extLst xmlns:a="http://schemas.openxmlformats.org/drawingml/2006/main">
              <a:ext uri="{FF2B5EF4-FFF2-40B4-BE49-F238E27FC236}">
                <a16:creationId xmlns:a16="http://schemas.microsoft.com/office/drawing/2014/main" id="{07480170-5E3D-4EC8-B59D-68FEC626300A}"/>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C73301FC-4843-4792-BA4E-0A0DAAE9D19D}"/>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Hours 14% of Sep 1-8 (4h/30h)</a:t>
            </a:r>
          </a:p>
          <a:p xmlns:a="http://schemas.openxmlformats.org/drawingml/2006/main">
            <a:pPr>
              <a:defRPr sz="1200" b="0">
                <a:solidFill>
                  <a:srgbClr val="F7F4EC"/>
                </a:solidFill>
              </a:defRPr>
            </a:pPr>
            <a:r>
              <a:rPr sz="1200" b="0">
                <a:solidFill>
                  <a:srgbClr val="F7F4EC"/>
                </a:solidFill>
              </a:rPr>
              <a:t>Diamonds 4% of Sep 1-8 (5.2k/119.9k)</a:t>
            </a:r>
          </a:p>
        </p:txBody>
      </p:sp>
      <p:sp>
        <p:nvSpPr>
          <p:cNvPr id="22" name="">
            <a:extLst xmlns:a="http://schemas.openxmlformats.org/drawingml/2006/main">
              <a:ext uri="{FF2B5EF4-FFF2-40B4-BE49-F238E27FC236}">
                <a16:creationId xmlns:a16="http://schemas.microsoft.com/office/drawing/2014/main" id="{9FEAE0DB-60D6-4042-AC0E-7A360C2FB8F4}"/>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2677DFD2-BE43-4F6B-80A5-7D07D6FFF0D8}"/>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14% of their September level. Ask what is stopping them from going live, then agree a realistic weekly live schedule and check it is followed.</a:t>
            </a:r>
          </a:p>
        </p:txBody>
      </p:sp>
      <p:sp>
        <p:nvSpPr>
          <p:cNvPr id="24" name="">
            <a:extLst xmlns:a="http://schemas.openxmlformats.org/drawingml/2006/main">
              <a:ext uri="{FF2B5EF4-FFF2-40B4-BE49-F238E27FC236}">
                <a16:creationId xmlns:a16="http://schemas.microsoft.com/office/drawing/2014/main" id="{86EC24E4-74C9-4D01-B825-877BCC0819BA}"/>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25</a:t>
            </a:r>
          </a:p>
        </p:txBody>
      </p:sp>
    </p:spTree>
    <p:extLst>
      <p:ext uri="{BB962C8B-B14F-4D97-AF65-F5344CB8AC3E}">
        <p14:creationId xmlns:p14="http://schemas.microsoft.com/office/powerpoint/2010/main" val="129227886"/>
      </p:ext>
    </p:extLst>
  </p:cSld>
</p:sld>
</file>

<file path=ppt/slides/slide26.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3140FE0-1DDB-479B-9B45-4014F238BA4D}"/>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20B80306-3D35-4FF1-ABDC-12C4D44565D7}"/>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3030E188-1E27-484B-B71D-5A32AF6C103B}"/>
              </a:ext>
            </a:extLst>
          </p:cNvPr>
          <p:cNvPicPr>
            <a:picLocks xmlns:a="http://schemas.openxmlformats.org/drawingml/2006/main" noChangeAspect="1"/>
          </p:cNvPicPr>
          <p:nvPr/>
        </p:nvPicPr>
        <p:blipFill>
          <a:blip xmlns:r="http://schemas.openxmlformats.org/officeDocument/2006/relationships" xmlns:a="http://schemas.openxmlformats.org/drawingml/2006/main" r:embed="R02730c4a5ced4c36"/>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8D7BFB2-D584-47C3-AAC4-010806C79898}"/>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luke_matthew121@hotmail.co.uk</a:t>
            </a:r>
          </a:p>
        </p:txBody>
      </p:sp>
      <p:sp>
        <p:nvSpPr>
          <p:cNvPr id="5" name="">
            <a:extLst xmlns:a="http://schemas.openxmlformats.org/drawingml/2006/main">
              <a:ext uri="{FF2B5EF4-FFF2-40B4-BE49-F238E27FC236}">
                <a16:creationId xmlns:a16="http://schemas.microsoft.com/office/drawing/2014/main" id="{83A906EA-461A-4714-AC86-CCB15295780B}"/>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B3650341-2193-4B41-8322-E63D0B345BF2}"/>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8306FC04-E9E4-4FF9-9D45-133A5B074889}"/>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@phantomjaguar</a:t>
            </a:r>
          </a:p>
        </p:txBody>
      </p:sp>
      <p:sp>
        <p:nvSpPr>
          <p:cNvPr id="8" name="">
            <a:extLst xmlns:a="http://schemas.openxmlformats.org/drawingml/2006/main">
              <a:ext uri="{FF2B5EF4-FFF2-40B4-BE49-F238E27FC236}">
                <a16:creationId xmlns:a16="http://schemas.microsoft.com/office/drawing/2014/main" id="{F68DA828-A4E9-4736-A061-580D48C5FC46}"/>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2C186448-8197-45E4-88BA-18EB74223AB1}"/>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-55%</a:t>
            </a:r>
          </a:p>
        </p:txBody>
      </p:sp>
      <p:sp>
        <p:nvSpPr>
          <p:cNvPr id="10" name="">
            <a:extLst xmlns:a="http://schemas.openxmlformats.org/drawingml/2006/main">
              <a:ext uri="{FF2B5EF4-FFF2-40B4-BE49-F238E27FC236}">
                <a16:creationId xmlns:a16="http://schemas.microsoft.com/office/drawing/2014/main" id="{AFBBC59E-A45B-4301-A307-58F67E835B63}"/>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65,497  |  Oct 1-8: 29,549</a:t>
            </a:r>
          </a:p>
        </p:txBody>
      </p:sp>
      <p:sp>
        <p:nvSpPr>
          <p:cNvPr id="11" name="">
            <a:extLst xmlns:a="http://schemas.openxmlformats.org/drawingml/2006/main">
              <a:ext uri="{FF2B5EF4-FFF2-40B4-BE49-F238E27FC236}">
                <a16:creationId xmlns:a16="http://schemas.microsoft.com/office/drawing/2014/main" id="{796653E7-8B3F-4021-B047-B4397E0A6AA9}"/>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1363F9ED-BA72-4530-98BB-EFBCB3176AC9}"/>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45% of Sep 1-8 (29.5k/65.5k)</a:t>
            </a:r>
          </a:p>
          <a:p xmlns:a="http://schemas.openxmlformats.org/drawingml/2006/main">
            <a:pPr>
              <a:defRPr sz="1200" b="0">
                <a:solidFill>
                  <a:srgbClr val="F7F4EC"/>
                </a:solidFill>
              </a:defRPr>
            </a:pPr>
            <a:r>
              <a:rPr sz="1200" b="0">
                <a:solidFill>
                  <a:srgbClr val="F7F4EC"/>
                </a:solidFill>
              </a:rPr>
              <a:t>Hours 65% of Sep 1-8 (40h/61h)</a:t>
            </a:r>
          </a:p>
        </p:txBody>
      </p:sp>
      <p:sp>
        <p:nvSpPr>
          <p:cNvPr id="13" name="">
            <a:extLst xmlns:a="http://schemas.openxmlformats.org/drawingml/2006/main">
              <a:ext uri="{FF2B5EF4-FFF2-40B4-BE49-F238E27FC236}">
                <a16:creationId xmlns:a16="http://schemas.microsoft.com/office/drawing/2014/main" id="{26220F30-007B-4B94-AF32-C6C048491789}"/>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6137A3A0-38B4-4E7F-8317-815DD2FC7AA5}"/>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65%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D380C0E3-071D-49C7-8132-5D69E9D1A14E}"/>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9B0CF516-D42F-428E-98E8-6782AADFFE8C}"/>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@turbotagz</a:t>
            </a:r>
          </a:p>
        </p:txBody>
      </p:sp>
      <p:sp>
        <p:nvSpPr>
          <p:cNvPr id="17" name="">
            <a:extLst xmlns:a="http://schemas.openxmlformats.org/drawingml/2006/main">
              <a:ext uri="{FF2B5EF4-FFF2-40B4-BE49-F238E27FC236}">
                <a16:creationId xmlns:a16="http://schemas.microsoft.com/office/drawing/2014/main" id="{A274B8EB-D3BB-4E87-9716-DAC51069E41E}"/>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82494000-990A-4F6A-A303-9FBE35284544}"/>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-62%</a:t>
            </a:r>
          </a:p>
        </p:txBody>
      </p:sp>
      <p:sp>
        <p:nvSpPr>
          <p:cNvPr id="19" name="">
            <a:extLst xmlns:a="http://schemas.openxmlformats.org/drawingml/2006/main">
              <a:ext uri="{FF2B5EF4-FFF2-40B4-BE49-F238E27FC236}">
                <a16:creationId xmlns:a16="http://schemas.microsoft.com/office/drawing/2014/main" id="{E9AF2338-83EA-4FC9-A353-CBD8432FF73A}"/>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56,031  |  Oct 1-8: 21,049</a:t>
            </a:r>
          </a:p>
        </p:txBody>
      </p:sp>
      <p:sp>
        <p:nvSpPr>
          <p:cNvPr id="20" name="">
            <a:extLst xmlns:a="http://schemas.openxmlformats.org/drawingml/2006/main">
              <a:ext uri="{FF2B5EF4-FFF2-40B4-BE49-F238E27FC236}">
                <a16:creationId xmlns:a16="http://schemas.microsoft.com/office/drawing/2014/main" id="{1E039806-BE91-4788-8906-29A1B40C9E5F}"/>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BDDF96A6-ABEE-4524-8F69-7CE7BBE6DCBE}"/>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Hours 31% of Sep 1-8 (11h/35h)</a:t>
            </a:r>
          </a:p>
          <a:p xmlns:a="http://schemas.openxmlformats.org/drawingml/2006/main">
            <a:pPr>
              <a:defRPr sz="1200" b="0">
                <a:solidFill>
                  <a:srgbClr val="F7F4EC"/>
                </a:solidFill>
              </a:defRPr>
            </a:pPr>
            <a:r>
              <a:rPr sz="1200" b="0">
                <a:solidFill>
                  <a:srgbClr val="F7F4EC"/>
                </a:solidFill>
              </a:rPr>
              <a:t>Diamonds 38% of Sep 1-8 (21.0k/56.0k)</a:t>
            </a:r>
          </a:p>
        </p:txBody>
      </p:sp>
      <p:sp>
        <p:nvSpPr>
          <p:cNvPr id="22" name="">
            <a:extLst xmlns:a="http://schemas.openxmlformats.org/drawingml/2006/main">
              <a:ext uri="{FF2B5EF4-FFF2-40B4-BE49-F238E27FC236}">
                <a16:creationId xmlns:a16="http://schemas.microsoft.com/office/drawing/2014/main" id="{45C171B5-8487-4FDE-8E42-4C1203E0A425}"/>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019B2130-BD8B-4810-8F18-5D6EAB254142}"/>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31% of their September level. Ask what is stopping them from going live, then agree a realistic weekly live schedule and check it is followed.</a:t>
            </a:r>
          </a:p>
        </p:txBody>
      </p:sp>
      <p:sp>
        <p:nvSpPr>
          <p:cNvPr id="24" name="">
            <a:extLst xmlns:a="http://schemas.openxmlformats.org/drawingml/2006/main">
              <a:ext uri="{FF2B5EF4-FFF2-40B4-BE49-F238E27FC236}">
                <a16:creationId xmlns:a16="http://schemas.microsoft.com/office/drawing/2014/main" id="{57C9B267-0AEB-41A1-A7B6-F2C40878C63F}"/>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26</a:t>
            </a:r>
          </a:p>
        </p:txBody>
      </p:sp>
    </p:spTree>
    <p:extLst>
      <p:ext uri="{BB962C8B-B14F-4D97-AF65-F5344CB8AC3E}">
        <p14:creationId xmlns:p14="http://schemas.microsoft.com/office/powerpoint/2010/main" val="1205572304"/>
      </p:ext>
    </p:extLst>
  </p:cSld>
</p:sld>
</file>

<file path=ppt/slides/slide27.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64DA28C-BE08-484F-9EA9-7BED382418AF}"/>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1B809238-D865-4A00-AF9E-18D8E4F11B8F}"/>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AB956CD6-4ECA-47F9-BB88-762AFF8695E0}"/>
              </a:ext>
            </a:extLst>
          </p:cNvPr>
          <p:cNvPicPr>
            <a:picLocks xmlns:a="http://schemas.openxmlformats.org/drawingml/2006/main" noChangeAspect="1"/>
          </p:cNvPicPr>
          <p:nvPr/>
        </p:nvPicPr>
        <p:blipFill>
          <a:blip xmlns:r="http://schemas.openxmlformats.org/officeDocument/2006/relationships" xmlns:a="http://schemas.openxmlformats.org/drawingml/2006/main" r:embed="Ra5b6aeabe22f4980"/>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BAD219F-E61F-4AD1-9AB5-E89D6F99AC6D}"/>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luke_matthew121@hotmail.co.uk</a:t>
            </a:r>
          </a:p>
        </p:txBody>
      </p:sp>
      <p:sp>
        <p:nvSpPr>
          <p:cNvPr id="5" name="">
            <a:extLst xmlns:a="http://schemas.openxmlformats.org/drawingml/2006/main">
              <a:ext uri="{FF2B5EF4-FFF2-40B4-BE49-F238E27FC236}">
                <a16:creationId xmlns:a16="http://schemas.microsoft.com/office/drawing/2014/main" id="{4D17E1C3-7F62-410D-8A0A-CA9C55EA7151}"/>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D648F721-BC2F-490B-A96C-D5E9F3257E9A}"/>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65E612A6-94C8-408E-BC60-4219104FFE59}"/>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@rustytrigger_1</a:t>
            </a:r>
          </a:p>
        </p:txBody>
      </p:sp>
      <p:sp>
        <p:nvSpPr>
          <p:cNvPr id="8" name="">
            <a:extLst xmlns:a="http://schemas.openxmlformats.org/drawingml/2006/main">
              <a:ext uri="{FF2B5EF4-FFF2-40B4-BE49-F238E27FC236}">
                <a16:creationId xmlns:a16="http://schemas.microsoft.com/office/drawing/2014/main" id="{2D007756-9DE5-43ED-A8CF-5EDE05E2B573}"/>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9FA80422-8D30-42ED-85F4-60DFEBE5D03B}"/>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-93%</a:t>
            </a:r>
          </a:p>
        </p:txBody>
      </p:sp>
      <p:sp>
        <p:nvSpPr>
          <p:cNvPr id="10" name="">
            <a:extLst xmlns:a="http://schemas.openxmlformats.org/drawingml/2006/main">
              <a:ext uri="{FF2B5EF4-FFF2-40B4-BE49-F238E27FC236}">
                <a16:creationId xmlns:a16="http://schemas.microsoft.com/office/drawing/2014/main" id="{6DA11084-5FAC-4F6D-8AA6-9C6EF9A97F59}"/>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32,053  |  Oct 1-8: 2,305</a:t>
            </a:r>
          </a:p>
        </p:txBody>
      </p:sp>
      <p:sp>
        <p:nvSpPr>
          <p:cNvPr id="11" name="">
            <a:extLst xmlns:a="http://schemas.openxmlformats.org/drawingml/2006/main">
              <a:ext uri="{FF2B5EF4-FFF2-40B4-BE49-F238E27FC236}">
                <a16:creationId xmlns:a16="http://schemas.microsoft.com/office/drawing/2014/main" id="{D61DC8A3-39B6-4D09-98FB-34BD1F8B381D}"/>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1EF1D6BC-8E37-4153-A35A-E9670B50936D}"/>
              </a:ext>
            </a:extLst>
          </p:cNvPr>
          <p:cNvSpPr>
            <a:spLocks xmlns:a="http://schemas.openxmlformats.org/drawingml/2006/main" noGrp="1"/>
          </p:cNvSpPr>
          <p:nvPr/>
        </p:nvSpPr>
        <p:spPr>
          <a:xfrm xmlns:a="http://schemas.openxmlformats.org/drawingml/2006/main">
            <a:off x="4000500" y="2809875"/>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7% of Sep 1-8 (2.3k/32.1k)</a:t>
            </a:r>
          </a:p>
        </p:txBody>
      </p:sp>
      <p:sp>
        <p:nvSpPr>
          <p:cNvPr id="13" name="">
            <a:extLst xmlns:a="http://schemas.openxmlformats.org/drawingml/2006/main">
              <a:ext uri="{FF2B5EF4-FFF2-40B4-BE49-F238E27FC236}">
                <a16:creationId xmlns:a16="http://schemas.microsoft.com/office/drawing/2014/main" id="{D28D9FCD-9A6E-436F-B893-914A092414CC}"/>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AF2BA914-E31C-4271-8182-C268B3F23A6B}"/>
              </a:ext>
            </a:extLst>
          </p:cNvPr>
          <p:cNvSpPr>
            <a:spLocks xmlns:a="http://schemas.openxmlformats.org/drawingml/2006/main" noGrp="1"/>
          </p:cNvSpPr>
          <p:nvPr/>
        </p:nvSpPr>
        <p:spPr>
          <a:xfrm xmlns:a="http://schemas.openxmlformats.org/drawingml/2006/main">
            <a:off x="7620000" y="2809875"/>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E1F573F5-9158-4BC8-9184-7BDEE8439C87}"/>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27</a:t>
            </a:r>
          </a:p>
        </p:txBody>
      </p:sp>
    </p:spTree>
    <p:extLst>
      <p:ext uri="{BB962C8B-B14F-4D97-AF65-F5344CB8AC3E}">
        <p14:creationId xmlns:p14="http://schemas.microsoft.com/office/powerpoint/2010/main" val="895332074"/>
      </p:ext>
    </p:extLst>
  </p:cSld>
</p:sld>
</file>

<file path=ppt/slides/slide28.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7CBBB92-818D-41A5-BD06-FA1783766146}"/>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3885F7AD-400D-4963-B695-84F4BA68C8F2}"/>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F999234A-DFFD-4D76-B3D1-1CC94757C0BB}"/>
              </a:ext>
            </a:extLst>
          </p:cNvPr>
          <p:cNvPicPr>
            <a:picLocks xmlns:a="http://schemas.openxmlformats.org/drawingml/2006/main" noChangeAspect="1"/>
          </p:cNvPicPr>
          <p:nvPr/>
        </p:nvPicPr>
        <p:blipFill>
          <a:blip xmlns:r="http://schemas.openxmlformats.org/officeDocument/2006/relationships" xmlns:a="http://schemas.openxmlformats.org/drawingml/2006/main" r:embed="Ra620bf5d54624f8d"/>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A5C7EF3-0FD1-4883-B0FE-C1E4BF10F551}"/>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megan25121990@hotmail.com</a:t>
            </a:r>
          </a:p>
        </p:txBody>
      </p:sp>
      <p:sp>
        <p:nvSpPr>
          <p:cNvPr id="5" name="">
            <a:extLst xmlns:a="http://schemas.openxmlformats.org/drawingml/2006/main">
              <a:ext uri="{FF2B5EF4-FFF2-40B4-BE49-F238E27FC236}">
                <a16:creationId xmlns:a16="http://schemas.microsoft.com/office/drawing/2014/main" id="{D56C43EC-B92F-4784-8029-247DA9A9447C}"/>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91477A77-BE6E-48FA-BB72-1C74526E4400}"/>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568851D0-66AC-4D2D-8D28-98DA7F8C2BFB}"/>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@nklnne</a:t>
            </a:r>
          </a:p>
        </p:txBody>
      </p:sp>
      <p:sp>
        <p:nvSpPr>
          <p:cNvPr id="8" name="">
            <a:extLst xmlns:a="http://schemas.openxmlformats.org/drawingml/2006/main">
              <a:ext uri="{FF2B5EF4-FFF2-40B4-BE49-F238E27FC236}">
                <a16:creationId xmlns:a16="http://schemas.microsoft.com/office/drawing/2014/main" id="{457DA3F9-DE84-4C1C-B00A-9162E5B129BB}"/>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6FCF7EDD-62A0-405E-BE2E-11DEA3AD0946}"/>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-68%</a:t>
            </a:r>
          </a:p>
        </p:txBody>
      </p:sp>
      <p:sp>
        <p:nvSpPr>
          <p:cNvPr id="10" name="">
            <a:extLst xmlns:a="http://schemas.openxmlformats.org/drawingml/2006/main">
              <a:ext uri="{FF2B5EF4-FFF2-40B4-BE49-F238E27FC236}">
                <a16:creationId xmlns:a16="http://schemas.microsoft.com/office/drawing/2014/main" id="{B33D9DA3-E227-41EE-899A-88DB205E93D6}"/>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113,411  |  Oct 1-8: 36,605</a:t>
            </a:r>
          </a:p>
        </p:txBody>
      </p:sp>
      <p:sp>
        <p:nvSpPr>
          <p:cNvPr id="11" name="">
            <a:extLst xmlns:a="http://schemas.openxmlformats.org/drawingml/2006/main">
              <a:ext uri="{FF2B5EF4-FFF2-40B4-BE49-F238E27FC236}">
                <a16:creationId xmlns:a16="http://schemas.microsoft.com/office/drawing/2014/main" id="{A8F913CD-62DC-442C-AD84-178BE71527CB}"/>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A2F93D56-4629-4803-BD83-5B3DAEB89F18}"/>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Hours 39% of Sep 1-8 (12h/30h)</a:t>
            </a:r>
          </a:p>
          <a:p xmlns:a="http://schemas.openxmlformats.org/drawingml/2006/main">
            <a:pPr>
              <a:defRPr sz="1200" b="0">
                <a:solidFill>
                  <a:srgbClr val="F7F4EC"/>
                </a:solidFill>
              </a:defRPr>
            </a:pPr>
            <a:r>
              <a:rPr sz="1200" b="0">
                <a:solidFill>
                  <a:srgbClr val="F7F4EC"/>
                </a:solidFill>
              </a:rPr>
              <a:t>Diamonds 32% of Sep 1-8 (36.6k/113.4k)</a:t>
            </a:r>
          </a:p>
        </p:txBody>
      </p:sp>
      <p:sp>
        <p:nvSpPr>
          <p:cNvPr id="13" name="">
            <a:extLst xmlns:a="http://schemas.openxmlformats.org/drawingml/2006/main">
              <a:ext uri="{FF2B5EF4-FFF2-40B4-BE49-F238E27FC236}">
                <a16:creationId xmlns:a16="http://schemas.microsoft.com/office/drawing/2014/main" id="{6D88CC96-6375-4614-9A3F-67DF3C20D3E2}"/>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05F2E562-18CB-4BC4-8C01-F244178033E2}"/>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39%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4585881F-A4E8-40EA-AB2A-6671975066BB}"/>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8F0C6F37-6FDF-41C4-A9C5-5D245FDDC5CD}"/>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@clo.elizabeth1</a:t>
            </a:r>
          </a:p>
        </p:txBody>
      </p:sp>
      <p:sp>
        <p:nvSpPr>
          <p:cNvPr id="17" name="">
            <a:extLst xmlns:a="http://schemas.openxmlformats.org/drawingml/2006/main">
              <a:ext uri="{FF2B5EF4-FFF2-40B4-BE49-F238E27FC236}">
                <a16:creationId xmlns:a16="http://schemas.microsoft.com/office/drawing/2014/main" id="{5764FA2E-3D18-4CFC-99CD-6DFBA10DD009}"/>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2E85B7C5-8F95-4C8F-9C51-6BA4B080A60B}"/>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19" name="">
            <a:extLst xmlns:a="http://schemas.openxmlformats.org/drawingml/2006/main">
              <a:ext uri="{FF2B5EF4-FFF2-40B4-BE49-F238E27FC236}">
                <a16:creationId xmlns:a16="http://schemas.microsoft.com/office/drawing/2014/main" id="{BC531DDC-1322-4502-AD8E-24AB1C4A3216}"/>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34,464  |  Oct 1-8: 0</a:t>
            </a:r>
          </a:p>
        </p:txBody>
      </p:sp>
      <p:sp>
        <p:nvSpPr>
          <p:cNvPr id="20" name="">
            <a:extLst xmlns:a="http://schemas.openxmlformats.org/drawingml/2006/main">
              <a:ext uri="{FF2B5EF4-FFF2-40B4-BE49-F238E27FC236}">
                <a16:creationId xmlns:a16="http://schemas.microsoft.com/office/drawing/2014/main" id="{074C45E4-9191-49B1-91D4-ED1921B8A340}"/>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4FBC2FCB-8E62-4BE4-BF45-04AA60E1643D}"/>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No October activity</a:t>
            </a:r>
          </a:p>
        </p:txBody>
      </p:sp>
      <p:sp>
        <p:nvSpPr>
          <p:cNvPr id="22" name="">
            <a:extLst xmlns:a="http://schemas.openxmlformats.org/drawingml/2006/main">
              <a:ext uri="{FF2B5EF4-FFF2-40B4-BE49-F238E27FC236}">
                <a16:creationId xmlns:a16="http://schemas.microsoft.com/office/drawing/2014/main" id="{CD955A95-79F8-416A-9C0F-B0CDA43AE60D}"/>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A53DEDCF-8242-4B4C-BB7D-0851C4143789}"/>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This creator has not earned diamonds in October. Contact them today to confirm they are active, find out what is stopping them from going live, and agree their next scheduled live.</a:t>
            </a:r>
          </a:p>
        </p:txBody>
      </p:sp>
      <p:sp>
        <p:nvSpPr>
          <p:cNvPr id="24" name="">
            <a:extLst xmlns:a="http://schemas.openxmlformats.org/drawingml/2006/main">
              <a:ext uri="{FF2B5EF4-FFF2-40B4-BE49-F238E27FC236}">
                <a16:creationId xmlns:a16="http://schemas.microsoft.com/office/drawing/2014/main" id="{D00CBDDA-935D-4F85-8C55-4B16BA6BB3D0}"/>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28</a:t>
            </a:r>
          </a:p>
        </p:txBody>
      </p:sp>
    </p:spTree>
    <p:extLst>
      <p:ext uri="{BB962C8B-B14F-4D97-AF65-F5344CB8AC3E}">
        <p14:creationId xmlns:p14="http://schemas.microsoft.com/office/powerpoint/2010/main" val="444260817"/>
      </p:ext>
    </p:extLst>
  </p:cSld>
</p:sld>
</file>

<file path=ppt/slides/slide29.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CFADEF7-C7A5-42FE-9CC8-58C8FB77D28D}"/>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4C5050A2-F3D7-430C-98F4-FB5DC7E8B854}"/>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D3EFA5F0-4794-48F1-A87C-26A813F75ACD}"/>
              </a:ext>
            </a:extLst>
          </p:cNvPr>
          <p:cNvPicPr>
            <a:picLocks xmlns:a="http://schemas.openxmlformats.org/drawingml/2006/main" noChangeAspect="1"/>
          </p:cNvPicPr>
          <p:nvPr/>
        </p:nvPicPr>
        <p:blipFill>
          <a:blip xmlns:r="http://schemas.openxmlformats.org/officeDocument/2006/relationships" xmlns:a="http://schemas.openxmlformats.org/drawingml/2006/main" r:embed="R0c0d28b1fb6a4e66"/>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238AC69-6D16-43D0-8BF5-000EEB653423}"/>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mikehalesjb@gmail.com</a:t>
            </a:r>
          </a:p>
        </p:txBody>
      </p:sp>
      <p:sp>
        <p:nvSpPr>
          <p:cNvPr id="5" name="">
            <a:extLst xmlns:a="http://schemas.openxmlformats.org/drawingml/2006/main">
              <a:ext uri="{FF2B5EF4-FFF2-40B4-BE49-F238E27FC236}">
                <a16:creationId xmlns:a16="http://schemas.microsoft.com/office/drawing/2014/main" id="{1425EDAD-A7C7-41BE-B22B-B5FE775C6F86}"/>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194C3051-BDEA-42B0-8373-3478D87E634B}"/>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439D2615-E197-48DB-8193-4237ECCE6E66}"/>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@coran.purser</a:t>
            </a:r>
          </a:p>
        </p:txBody>
      </p:sp>
      <p:sp>
        <p:nvSpPr>
          <p:cNvPr id="8" name="">
            <a:extLst xmlns:a="http://schemas.openxmlformats.org/drawingml/2006/main">
              <a:ext uri="{FF2B5EF4-FFF2-40B4-BE49-F238E27FC236}">
                <a16:creationId xmlns:a16="http://schemas.microsoft.com/office/drawing/2014/main" id="{5B19BFF6-AAA4-426A-915D-597A410EC436}"/>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5B28E766-9D5D-4578-A19C-8FAC7D31CBA5}"/>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-58%</a:t>
            </a:r>
          </a:p>
        </p:txBody>
      </p:sp>
      <p:sp>
        <p:nvSpPr>
          <p:cNvPr id="10" name="">
            <a:extLst xmlns:a="http://schemas.openxmlformats.org/drawingml/2006/main">
              <a:ext uri="{FF2B5EF4-FFF2-40B4-BE49-F238E27FC236}">
                <a16:creationId xmlns:a16="http://schemas.microsoft.com/office/drawing/2014/main" id="{03CE6929-67AA-4353-97F7-33B03872DDCB}"/>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407,090  |  Oct 1-8: 171,335</a:t>
            </a:r>
          </a:p>
        </p:txBody>
      </p:sp>
      <p:sp>
        <p:nvSpPr>
          <p:cNvPr id="11" name="">
            <a:extLst xmlns:a="http://schemas.openxmlformats.org/drawingml/2006/main">
              <a:ext uri="{FF2B5EF4-FFF2-40B4-BE49-F238E27FC236}">
                <a16:creationId xmlns:a16="http://schemas.microsoft.com/office/drawing/2014/main" id="{67B29439-F73A-4DF0-8644-B42371993AD2}"/>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9D14E884-0279-46B2-90F2-7E752B942991}"/>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42% of Sep 1-8 (171.3k/407.1k)</a:t>
            </a:r>
          </a:p>
          <a:p xmlns:a="http://schemas.openxmlformats.org/drawingml/2006/main">
            <a:pPr>
              <a:defRPr sz="1200" b="0">
                <a:solidFill>
                  <a:srgbClr val="F7F4EC"/>
                </a:solidFill>
              </a:defRPr>
            </a:pPr>
            <a:r>
              <a:rPr sz="1200" b="0">
                <a:solidFill>
                  <a:srgbClr val="F7F4EC"/>
                </a:solidFill>
              </a:rPr>
              <a:t>Matches 48% of Sep 1-8 (151/312)</a:t>
            </a:r>
          </a:p>
        </p:txBody>
      </p:sp>
      <p:sp>
        <p:nvSpPr>
          <p:cNvPr id="13" name="">
            <a:extLst xmlns:a="http://schemas.openxmlformats.org/drawingml/2006/main">
              <a:ext uri="{FF2B5EF4-FFF2-40B4-BE49-F238E27FC236}">
                <a16:creationId xmlns:a16="http://schemas.microsoft.com/office/drawing/2014/main" id="{D593E342-5694-4988-99DD-BDCDEE3B2CAE}"/>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B8BCF647-56A9-4CA8-8815-3A83BE7A83BD}"/>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60%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AFD5C89E-EEEB-4B40-AF43-195DC2021CAF}"/>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957C1E17-7E39-4F2D-8C5C-F515E20FC1FC}"/>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@dam_it_chan</a:t>
            </a:r>
          </a:p>
        </p:txBody>
      </p:sp>
      <p:sp>
        <p:nvSpPr>
          <p:cNvPr id="17" name="">
            <a:extLst xmlns:a="http://schemas.openxmlformats.org/drawingml/2006/main">
              <a:ext uri="{FF2B5EF4-FFF2-40B4-BE49-F238E27FC236}">
                <a16:creationId xmlns:a16="http://schemas.microsoft.com/office/drawing/2014/main" id="{6F15CF0F-2600-4E61-B345-E338A7913EAE}"/>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41092940-4457-48E8-B3E1-077D459C8B58}"/>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-45%</a:t>
            </a:r>
          </a:p>
        </p:txBody>
      </p:sp>
      <p:sp>
        <p:nvSpPr>
          <p:cNvPr id="19" name="">
            <a:extLst xmlns:a="http://schemas.openxmlformats.org/drawingml/2006/main">
              <a:ext uri="{FF2B5EF4-FFF2-40B4-BE49-F238E27FC236}">
                <a16:creationId xmlns:a16="http://schemas.microsoft.com/office/drawing/2014/main" id="{CE9373A7-D5E2-485B-B257-BD64068D2872}"/>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297,720  |  Oct 1-8: 162,917</a:t>
            </a:r>
          </a:p>
        </p:txBody>
      </p:sp>
      <p:sp>
        <p:nvSpPr>
          <p:cNvPr id="20" name="">
            <a:extLst xmlns:a="http://schemas.openxmlformats.org/drawingml/2006/main">
              <a:ext uri="{FF2B5EF4-FFF2-40B4-BE49-F238E27FC236}">
                <a16:creationId xmlns:a16="http://schemas.microsoft.com/office/drawing/2014/main" id="{1685C1CE-66E1-4624-9A69-B090F9628682}"/>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D9F1DD9D-EBD4-48AB-A718-3C17002F4D34}"/>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55% of Sep 1-8 (162.9k/297.7k)</a:t>
            </a:r>
          </a:p>
          <a:p xmlns:a="http://schemas.openxmlformats.org/drawingml/2006/main">
            <a:pPr>
              <a:defRPr sz="1200" b="0">
                <a:solidFill>
                  <a:srgbClr val="F7F4EC"/>
                </a:solidFill>
              </a:defRPr>
            </a:pPr>
            <a:r>
              <a:rPr sz="1200" b="0">
                <a:solidFill>
                  <a:srgbClr val="F7F4EC"/>
                </a:solidFill>
              </a:rPr>
              <a:t>Matches 62% of Sep 1-8 (70/113)</a:t>
            </a:r>
          </a:p>
        </p:txBody>
      </p:sp>
      <p:sp>
        <p:nvSpPr>
          <p:cNvPr id="22" name="">
            <a:extLst xmlns:a="http://schemas.openxmlformats.org/drawingml/2006/main">
              <a:ext uri="{FF2B5EF4-FFF2-40B4-BE49-F238E27FC236}">
                <a16:creationId xmlns:a16="http://schemas.microsoft.com/office/drawing/2014/main" id="{14CEF5A9-DED6-4504-AA5B-F1B12B6505E2}"/>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15F8C731-38B0-4EA5-859A-66D54C997D40}"/>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They are starting fewer streams than usual. Agree fixed live slots for the week and make sure those slots are protected.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DEE63B23-C6BA-4F24-B9F0-A3055CE62E88}"/>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29</a:t>
            </a:r>
          </a:p>
        </p:txBody>
      </p:sp>
    </p:spTree>
    <p:extLst>
      <p:ext uri="{BB962C8B-B14F-4D97-AF65-F5344CB8AC3E}">
        <p14:creationId xmlns:p14="http://schemas.microsoft.com/office/powerpoint/2010/main" val="1532029928"/>
      </p:ext>
    </p:extLst>
  </p:cSld>
</p:sld>
</file>

<file path=ppt/slides/slide30.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8C7E993-B7A7-4C6C-8591-7561982C82CA}"/>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4748E199-C521-42BD-8DB9-2706FD775D95}"/>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D0ED8351-2F24-4790-9C7D-3F17452208D7}"/>
              </a:ext>
            </a:extLst>
          </p:cNvPr>
          <p:cNvPicPr>
            <a:picLocks xmlns:a="http://schemas.openxmlformats.org/drawingml/2006/main" noChangeAspect="1"/>
          </p:cNvPicPr>
          <p:nvPr/>
        </p:nvPicPr>
        <p:blipFill>
          <a:blip xmlns:r="http://schemas.openxmlformats.org/officeDocument/2006/relationships" xmlns:a="http://schemas.openxmlformats.org/drawingml/2006/main" r:embed="R8ba1cb859ca04eee"/>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08471E8-4428-4D62-A356-F66A573A479A}"/>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mikehalesjb@gmail.com</a:t>
            </a:r>
          </a:p>
        </p:txBody>
      </p:sp>
      <p:sp>
        <p:nvSpPr>
          <p:cNvPr id="5" name="">
            <a:extLst xmlns:a="http://schemas.openxmlformats.org/drawingml/2006/main">
              <a:ext uri="{FF2B5EF4-FFF2-40B4-BE49-F238E27FC236}">
                <a16:creationId xmlns:a16="http://schemas.microsoft.com/office/drawing/2014/main" id="{A083D4C7-78C4-4464-A3F7-24AD0DBB5BF2}"/>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0756FB57-90C7-4320-8A49-9A0F3AC63947}"/>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E05ADA6B-968C-412D-87AA-6543F9A2E36C}"/>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@aiden..97</a:t>
            </a:r>
          </a:p>
        </p:txBody>
      </p:sp>
      <p:sp>
        <p:nvSpPr>
          <p:cNvPr id="8" name="">
            <a:extLst xmlns:a="http://schemas.openxmlformats.org/drawingml/2006/main">
              <a:ext uri="{FF2B5EF4-FFF2-40B4-BE49-F238E27FC236}">
                <a16:creationId xmlns:a16="http://schemas.microsoft.com/office/drawing/2014/main" id="{F4DA5E9D-71A8-4EE2-B0CF-49712F76C5A1}"/>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FD3E2C9F-7564-4016-B369-C8F94FA4443A}"/>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10" name="">
            <a:extLst xmlns:a="http://schemas.openxmlformats.org/drawingml/2006/main">
              <a:ext uri="{FF2B5EF4-FFF2-40B4-BE49-F238E27FC236}">
                <a16:creationId xmlns:a16="http://schemas.microsoft.com/office/drawing/2014/main" id="{B1879CCD-811B-4C80-87C5-D083653BEE65}"/>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39,689  |  Oct 1-8: 0</a:t>
            </a:r>
          </a:p>
        </p:txBody>
      </p:sp>
      <p:sp>
        <p:nvSpPr>
          <p:cNvPr id="11" name="">
            <a:extLst xmlns:a="http://schemas.openxmlformats.org/drawingml/2006/main">
              <a:ext uri="{FF2B5EF4-FFF2-40B4-BE49-F238E27FC236}">
                <a16:creationId xmlns:a16="http://schemas.microsoft.com/office/drawing/2014/main" id="{E59BC1F5-6EAC-49FA-A732-9B1697DDF2E8}"/>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F09BDF46-413A-4D5A-844C-9829E27B83C2}"/>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No October activity</a:t>
            </a:r>
          </a:p>
        </p:txBody>
      </p:sp>
      <p:sp>
        <p:nvSpPr>
          <p:cNvPr id="13" name="">
            <a:extLst xmlns:a="http://schemas.openxmlformats.org/drawingml/2006/main">
              <a:ext uri="{FF2B5EF4-FFF2-40B4-BE49-F238E27FC236}">
                <a16:creationId xmlns:a16="http://schemas.microsoft.com/office/drawing/2014/main" id="{E2D8C81A-9972-4BED-A6EB-A415DB87CEF2}"/>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757CC11E-94EE-4FCD-9E07-1ED204F2057B}"/>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This creator has not earned diamonds in October. Contact them today to confirm they are active, find out what is stopping them from going live, and agree their next scheduled live.</a:t>
            </a:r>
          </a:p>
        </p:txBody>
      </p:sp>
      <p:sp>
        <p:nvSpPr>
          <p:cNvPr id="15" name="">
            <a:extLst xmlns:a="http://schemas.openxmlformats.org/drawingml/2006/main">
              <a:ext uri="{FF2B5EF4-FFF2-40B4-BE49-F238E27FC236}">
                <a16:creationId xmlns:a16="http://schemas.microsoft.com/office/drawing/2014/main" id="{322AFB0C-0A02-46C3-AD7B-A3B0A314DCB4}"/>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22F1EE53-D014-4699-97F2-B542D82E4844}"/>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@sambaileysingerofficial</a:t>
            </a:r>
          </a:p>
        </p:txBody>
      </p:sp>
      <p:sp>
        <p:nvSpPr>
          <p:cNvPr id="17" name="">
            <a:extLst xmlns:a="http://schemas.openxmlformats.org/drawingml/2006/main">
              <a:ext uri="{FF2B5EF4-FFF2-40B4-BE49-F238E27FC236}">
                <a16:creationId xmlns:a16="http://schemas.microsoft.com/office/drawing/2014/main" id="{2D9C91DD-950B-464E-BC14-D7C5CEC97D2C}"/>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245F8E05-37A9-4915-B8F1-358018C22FF1}"/>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-14%</a:t>
            </a:r>
          </a:p>
        </p:txBody>
      </p:sp>
      <p:sp>
        <p:nvSpPr>
          <p:cNvPr id="19" name="">
            <a:extLst xmlns:a="http://schemas.openxmlformats.org/drawingml/2006/main">
              <a:ext uri="{FF2B5EF4-FFF2-40B4-BE49-F238E27FC236}">
                <a16:creationId xmlns:a16="http://schemas.microsoft.com/office/drawing/2014/main" id="{243D51F8-A4D9-4E95-912A-18564354DE8F}"/>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264,136  |  Oct 1-8: 227,053</a:t>
            </a:r>
          </a:p>
        </p:txBody>
      </p:sp>
      <p:sp>
        <p:nvSpPr>
          <p:cNvPr id="20" name="">
            <a:extLst xmlns:a="http://schemas.openxmlformats.org/drawingml/2006/main">
              <a:ext uri="{FF2B5EF4-FFF2-40B4-BE49-F238E27FC236}">
                <a16:creationId xmlns:a16="http://schemas.microsoft.com/office/drawing/2014/main" id="{438B8746-884B-423F-9D71-A91072DCED24}"/>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977C6AA6-47C0-435A-99D4-6C730397DD0E}"/>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Streams 69% of Sep 1-8 (11/16)</a:t>
            </a:r>
          </a:p>
          <a:p xmlns:a="http://schemas.openxmlformats.org/drawingml/2006/main">
            <a:pPr>
              <a:defRPr sz="1200" b="0">
                <a:solidFill>
                  <a:srgbClr val="F7F4EC"/>
                </a:solidFill>
              </a:defRPr>
            </a:pPr>
            <a:r>
              <a:rPr sz="1200" b="0">
                <a:solidFill>
                  <a:srgbClr val="F7F4EC"/>
                </a:solidFill>
              </a:rPr>
              <a:t>Diamonds 86% of Sep 1-8 (227.1k/264.1k)</a:t>
            </a:r>
          </a:p>
        </p:txBody>
      </p:sp>
      <p:sp>
        <p:nvSpPr>
          <p:cNvPr id="22" name="">
            <a:extLst xmlns:a="http://schemas.openxmlformats.org/drawingml/2006/main">
              <a:ext uri="{FF2B5EF4-FFF2-40B4-BE49-F238E27FC236}">
                <a16:creationId xmlns:a16="http://schemas.microsoft.com/office/drawing/2014/main" id="{8A95C721-1CCE-4540-94BB-E0D12284CD07}"/>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88EA7C71-4332-42CD-B9E0-81248716C9B7}"/>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They are starting fewer streams than usual. Agree fixed live slots for the week and make sure those slots are protected.</a:t>
            </a:r>
          </a:p>
        </p:txBody>
      </p:sp>
      <p:sp>
        <p:nvSpPr>
          <p:cNvPr id="24" name="">
            <a:extLst xmlns:a="http://schemas.openxmlformats.org/drawingml/2006/main">
              <a:ext uri="{FF2B5EF4-FFF2-40B4-BE49-F238E27FC236}">
                <a16:creationId xmlns:a16="http://schemas.microsoft.com/office/drawing/2014/main" id="{0846AC55-280E-43E9-83BB-22F9068B56DF}"/>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30</a:t>
            </a:r>
          </a:p>
        </p:txBody>
      </p:sp>
    </p:spTree>
    <p:extLst>
      <p:ext uri="{BB962C8B-B14F-4D97-AF65-F5344CB8AC3E}">
        <p14:creationId xmlns:p14="http://schemas.microsoft.com/office/powerpoint/2010/main" val="155209360"/>
      </p:ext>
    </p:extLst>
  </p:cSld>
</p:sld>
</file>

<file path=ppt/slides/slide31.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47AC352-710F-4187-9242-777F3CFDEF62}"/>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1EA1A874-1E39-4C7C-AF48-2AD422ECDB4E}"/>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31CEC98F-6DA5-4325-B2A7-E767BE20F5CB}"/>
              </a:ext>
            </a:extLst>
          </p:cNvPr>
          <p:cNvPicPr>
            <a:picLocks xmlns:a="http://schemas.openxmlformats.org/drawingml/2006/main" noChangeAspect="1"/>
          </p:cNvPicPr>
          <p:nvPr/>
        </p:nvPicPr>
        <p:blipFill>
          <a:blip xmlns:r="http://schemas.openxmlformats.org/officeDocument/2006/relationships" xmlns:a="http://schemas.openxmlformats.org/drawingml/2006/main" r:embed="Rbc1f266633df45a4"/>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4C3C430-9445-4957-A129-2B46B5C6C6AF}"/>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mikehalesjb@gmail.com</a:t>
            </a:r>
          </a:p>
        </p:txBody>
      </p:sp>
      <p:sp>
        <p:nvSpPr>
          <p:cNvPr id="5" name="">
            <a:extLst xmlns:a="http://schemas.openxmlformats.org/drawingml/2006/main">
              <a:ext uri="{FF2B5EF4-FFF2-40B4-BE49-F238E27FC236}">
                <a16:creationId xmlns:a16="http://schemas.microsoft.com/office/drawing/2014/main" id="{97F5DD76-5485-4318-AF3B-F657BE9602C9}"/>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57837A89-FE09-49A4-AB23-A598483EFA10}"/>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5869DD2F-F5A5-4FD1-BAD2-16991FAF0485}"/>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@saraaelisabeth</a:t>
            </a:r>
          </a:p>
        </p:txBody>
      </p:sp>
      <p:sp>
        <p:nvSpPr>
          <p:cNvPr id="8" name="">
            <a:extLst xmlns:a="http://schemas.openxmlformats.org/drawingml/2006/main">
              <a:ext uri="{FF2B5EF4-FFF2-40B4-BE49-F238E27FC236}">
                <a16:creationId xmlns:a16="http://schemas.microsoft.com/office/drawing/2014/main" id="{789A6BFA-6D9C-4E62-B781-77AFD8DED584}"/>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76A78D96-D406-4E8B-B39F-7DFA31EBB2BD}"/>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-96%</a:t>
            </a:r>
          </a:p>
        </p:txBody>
      </p:sp>
      <p:sp>
        <p:nvSpPr>
          <p:cNvPr id="10" name="">
            <a:extLst xmlns:a="http://schemas.openxmlformats.org/drawingml/2006/main">
              <a:ext uri="{FF2B5EF4-FFF2-40B4-BE49-F238E27FC236}">
                <a16:creationId xmlns:a16="http://schemas.microsoft.com/office/drawing/2014/main" id="{55AC805D-74AE-45F1-834F-4932F11B3B20}"/>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34,926  |  Oct 1-8: 1,532</a:t>
            </a:r>
          </a:p>
        </p:txBody>
      </p:sp>
      <p:sp>
        <p:nvSpPr>
          <p:cNvPr id="11" name="">
            <a:extLst xmlns:a="http://schemas.openxmlformats.org/drawingml/2006/main">
              <a:ext uri="{FF2B5EF4-FFF2-40B4-BE49-F238E27FC236}">
                <a16:creationId xmlns:a16="http://schemas.microsoft.com/office/drawing/2014/main" id="{F6E592AF-E9DA-4B16-8992-C2A064380A6B}"/>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5E4A1BE9-63BB-41DF-9537-4BCFB1BA0321}"/>
              </a:ext>
            </a:extLst>
          </p:cNvPr>
          <p:cNvSpPr>
            <a:spLocks xmlns:a="http://schemas.openxmlformats.org/drawingml/2006/main" noGrp="1"/>
          </p:cNvSpPr>
          <p:nvPr/>
        </p:nvSpPr>
        <p:spPr>
          <a:xfrm xmlns:a="http://schemas.openxmlformats.org/drawingml/2006/main">
            <a:off x="4000500" y="2809875"/>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4% of Sep 1-8 (1.5k/34.9k)</a:t>
            </a:r>
          </a:p>
          <a:p xmlns:a="http://schemas.openxmlformats.org/drawingml/2006/main">
            <a:pPr>
              <a:defRPr sz="1200" b="0">
                <a:solidFill>
                  <a:srgbClr val="F7F4EC"/>
                </a:solidFill>
              </a:defRPr>
            </a:pPr>
            <a:r>
              <a:rPr sz="1200" b="0">
                <a:solidFill>
                  <a:srgbClr val="F7F4EC"/>
                </a:solidFill>
              </a:rPr>
              <a:t>Hours 32% of Sep 1-8 (2h/6h)</a:t>
            </a:r>
          </a:p>
        </p:txBody>
      </p:sp>
      <p:sp>
        <p:nvSpPr>
          <p:cNvPr id="13" name="">
            <a:extLst xmlns:a="http://schemas.openxmlformats.org/drawingml/2006/main">
              <a:ext uri="{FF2B5EF4-FFF2-40B4-BE49-F238E27FC236}">
                <a16:creationId xmlns:a16="http://schemas.microsoft.com/office/drawing/2014/main" id="{346869D0-7998-444F-BA7E-DC9BB3AA4822}"/>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98E1F775-42E6-4911-BE29-2F817217377B}"/>
              </a:ext>
            </a:extLst>
          </p:cNvPr>
          <p:cNvSpPr>
            <a:spLocks xmlns:a="http://schemas.openxmlformats.org/drawingml/2006/main" noGrp="1"/>
          </p:cNvSpPr>
          <p:nvPr/>
        </p:nvSpPr>
        <p:spPr>
          <a:xfrm xmlns:a="http://schemas.openxmlformats.org/drawingml/2006/main">
            <a:off x="7620000" y="2809875"/>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32%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EFA64A4F-58C7-4574-B44C-56D097279C87}"/>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31</a:t>
            </a:r>
          </a:p>
        </p:txBody>
      </p:sp>
    </p:spTree>
    <p:extLst>
      <p:ext uri="{BB962C8B-B14F-4D97-AF65-F5344CB8AC3E}">
        <p14:creationId xmlns:p14="http://schemas.microsoft.com/office/powerpoint/2010/main" val="1906175558"/>
      </p:ext>
    </p:extLst>
  </p:cSld>
</p:sld>
</file>

<file path=ppt/slides/slide32.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0E627C2-980F-4AE8-B5CE-94FC43C0BAB6}"/>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8D38309E-DC86-4B30-8DA1-51268756D94F}"/>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27C643BC-22D6-4FDC-8B27-23D97F2FE6A6}"/>
              </a:ext>
            </a:extLst>
          </p:cNvPr>
          <p:cNvPicPr>
            <a:picLocks xmlns:a="http://schemas.openxmlformats.org/drawingml/2006/main" noChangeAspect="1"/>
          </p:cNvPicPr>
          <p:nvPr/>
        </p:nvPicPr>
        <p:blipFill>
          <a:blip xmlns:r="http://schemas.openxmlformats.org/officeDocument/2006/relationships" xmlns:a="http://schemas.openxmlformats.org/drawingml/2006/main" r:embed="R54e1c22ac39844e7"/>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586B70C-5D63-4456-92A3-476BD66AA786}"/>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rachellouise18.rl@yahoo.com</a:t>
            </a:r>
          </a:p>
        </p:txBody>
      </p:sp>
      <p:sp>
        <p:nvSpPr>
          <p:cNvPr id="5" name="">
            <a:extLst xmlns:a="http://schemas.openxmlformats.org/drawingml/2006/main">
              <a:ext uri="{FF2B5EF4-FFF2-40B4-BE49-F238E27FC236}">
                <a16:creationId xmlns:a16="http://schemas.microsoft.com/office/drawing/2014/main" id="{0F770D39-30AA-43D9-93C5-9F9EFD81690A}"/>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FA1D8A4D-7AB3-4105-BACA-DEB6F484E43D}"/>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1EE41442-A270-49F0-BDE0-9E23F91143B8}"/>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@al1ceroseb</a:t>
            </a:r>
          </a:p>
        </p:txBody>
      </p:sp>
      <p:sp>
        <p:nvSpPr>
          <p:cNvPr id="8" name="">
            <a:extLst xmlns:a="http://schemas.openxmlformats.org/drawingml/2006/main">
              <a:ext uri="{FF2B5EF4-FFF2-40B4-BE49-F238E27FC236}">
                <a16:creationId xmlns:a16="http://schemas.microsoft.com/office/drawing/2014/main" id="{15D61E75-ED9B-462E-B01F-F7A660111A71}"/>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63FEF537-0B42-412F-A2A2-11BF46C4F5D5}"/>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-55%</a:t>
            </a:r>
          </a:p>
        </p:txBody>
      </p:sp>
      <p:sp>
        <p:nvSpPr>
          <p:cNvPr id="10" name="">
            <a:extLst xmlns:a="http://schemas.openxmlformats.org/drawingml/2006/main">
              <a:ext uri="{FF2B5EF4-FFF2-40B4-BE49-F238E27FC236}">
                <a16:creationId xmlns:a16="http://schemas.microsoft.com/office/drawing/2014/main" id="{76B3337B-5980-4824-8462-01B48C46C78D}"/>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99,127  |  Oct 1-8: 45,005</a:t>
            </a:r>
          </a:p>
        </p:txBody>
      </p:sp>
      <p:sp>
        <p:nvSpPr>
          <p:cNvPr id="11" name="">
            <a:extLst xmlns:a="http://schemas.openxmlformats.org/drawingml/2006/main">
              <a:ext uri="{FF2B5EF4-FFF2-40B4-BE49-F238E27FC236}">
                <a16:creationId xmlns:a16="http://schemas.microsoft.com/office/drawing/2014/main" id="{8833F393-83B5-4285-A01C-640D7DC90363}"/>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E9803A50-B6BB-4904-B352-02DB237B27A6}"/>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Streams 29% of Sep 1-8 (5/17)</a:t>
            </a:r>
          </a:p>
          <a:p xmlns:a="http://schemas.openxmlformats.org/drawingml/2006/main">
            <a:pPr>
              <a:defRPr sz="1200" b="0">
                <a:solidFill>
                  <a:srgbClr val="F7F4EC"/>
                </a:solidFill>
              </a:defRPr>
            </a:pPr>
            <a:r>
              <a:rPr sz="1200" b="0">
                <a:solidFill>
                  <a:srgbClr val="F7F4EC"/>
                </a:solidFill>
              </a:rPr>
              <a:t>Hours 55% of Sep 1-8 (14h/25h)</a:t>
            </a:r>
          </a:p>
        </p:txBody>
      </p:sp>
      <p:sp>
        <p:nvSpPr>
          <p:cNvPr id="13" name="">
            <a:extLst xmlns:a="http://schemas.openxmlformats.org/drawingml/2006/main">
              <a:ext uri="{FF2B5EF4-FFF2-40B4-BE49-F238E27FC236}">
                <a16:creationId xmlns:a16="http://schemas.microsoft.com/office/drawing/2014/main" id="{C53D9AE6-8CCF-4039-B48B-4ED8C09B0907}"/>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2365851C-510E-4B29-AD69-47ED84B19B8C}"/>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55%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BDBFDB37-9CDB-4059-9B41-4BB6A07CCBD9}"/>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2B9E8021-5D77-4BEF-A104-ACEB6BB3F273}"/>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@raachlouisexxx</a:t>
            </a:r>
          </a:p>
        </p:txBody>
      </p:sp>
      <p:sp>
        <p:nvSpPr>
          <p:cNvPr id="17" name="">
            <a:extLst xmlns:a="http://schemas.openxmlformats.org/drawingml/2006/main">
              <a:ext uri="{FF2B5EF4-FFF2-40B4-BE49-F238E27FC236}">
                <a16:creationId xmlns:a16="http://schemas.microsoft.com/office/drawing/2014/main" id="{A372F69F-A277-4113-96FE-18047D35DC20}"/>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086EE90E-4A35-4F7A-A3DD-0D5A401F25FE}"/>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19" name="">
            <a:extLst xmlns:a="http://schemas.openxmlformats.org/drawingml/2006/main">
              <a:ext uri="{FF2B5EF4-FFF2-40B4-BE49-F238E27FC236}">
                <a16:creationId xmlns:a16="http://schemas.microsoft.com/office/drawing/2014/main" id="{2BA9B5F7-515D-45AB-904D-678B89D75E70}"/>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31,692  |  Oct 1-8: 98</a:t>
            </a:r>
          </a:p>
        </p:txBody>
      </p:sp>
      <p:sp>
        <p:nvSpPr>
          <p:cNvPr id="20" name="">
            <a:extLst xmlns:a="http://schemas.openxmlformats.org/drawingml/2006/main">
              <a:ext uri="{FF2B5EF4-FFF2-40B4-BE49-F238E27FC236}">
                <a16:creationId xmlns:a16="http://schemas.microsoft.com/office/drawing/2014/main" id="{D9CDF3B4-7FCC-475B-A7BB-AC5D788906D4}"/>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4E1EA3A9-94E0-444B-9F46-3C049290A6A2}"/>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Same activity; diamonds 0% of Sep 1-8</a:t>
            </a:r>
          </a:p>
        </p:txBody>
      </p:sp>
      <p:sp>
        <p:nvSpPr>
          <p:cNvPr id="22" name="">
            <a:extLst xmlns:a="http://schemas.openxmlformats.org/drawingml/2006/main">
              <a:ext uri="{FF2B5EF4-FFF2-40B4-BE49-F238E27FC236}">
                <a16:creationId xmlns:a16="http://schemas.microsoft.com/office/drawing/2014/main" id="{D93C3EC1-51B6-48CC-BC44-4213313F7D00}"/>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969956ED-0027-4F41-9147-06FC9C729FDA}"/>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They are putting in similar live time but earning less. Review their visual quality, consistency, stream set-up and how they convert viewers while live.</a:t>
            </a:r>
          </a:p>
        </p:txBody>
      </p:sp>
      <p:sp>
        <p:nvSpPr>
          <p:cNvPr id="24" name="">
            <a:extLst xmlns:a="http://schemas.openxmlformats.org/drawingml/2006/main">
              <a:ext uri="{FF2B5EF4-FFF2-40B4-BE49-F238E27FC236}">
                <a16:creationId xmlns:a16="http://schemas.microsoft.com/office/drawing/2014/main" id="{BF636D05-B5A0-40AD-B201-4A6E8AA06650}"/>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32</a:t>
            </a:r>
          </a:p>
        </p:txBody>
      </p:sp>
    </p:spTree>
    <p:extLst>
      <p:ext uri="{BB962C8B-B14F-4D97-AF65-F5344CB8AC3E}">
        <p14:creationId xmlns:p14="http://schemas.microsoft.com/office/powerpoint/2010/main" val="1835085354"/>
      </p:ext>
    </p:extLst>
  </p:cSld>
</p:sld>
</file>

<file path=ppt/slides/slide33.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6992CF5-509C-40E2-8FE5-4B8F93EA1CE6}"/>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94BD58BF-C669-46FA-9E63-044D361856B8}"/>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7C843840-44EA-4409-85F5-5D9EDF56C424}"/>
              </a:ext>
            </a:extLst>
          </p:cNvPr>
          <p:cNvPicPr>
            <a:picLocks xmlns:a="http://schemas.openxmlformats.org/drawingml/2006/main" noChangeAspect="1"/>
          </p:cNvPicPr>
          <p:nvPr/>
        </p:nvPicPr>
        <p:blipFill>
          <a:blip xmlns:r="http://schemas.openxmlformats.org/officeDocument/2006/relationships" xmlns:a="http://schemas.openxmlformats.org/drawingml/2006/main" r:embed="Ra8521c95d4d24edc"/>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A0ADB82-43F5-4F2F-8D63-A6B6272907B4}"/>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stormliveagency@outlook.com</a:t>
            </a:r>
          </a:p>
        </p:txBody>
      </p:sp>
      <p:sp>
        <p:nvSpPr>
          <p:cNvPr id="5" name="">
            <a:extLst xmlns:a="http://schemas.openxmlformats.org/drawingml/2006/main">
              <a:ext uri="{FF2B5EF4-FFF2-40B4-BE49-F238E27FC236}">
                <a16:creationId xmlns:a16="http://schemas.microsoft.com/office/drawing/2014/main" id="{9F7466B9-FF27-4008-8F31-8C1BFCD5BA9F}"/>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384F1E11-443C-4953-B994-D5C82D3256D2}"/>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A5BEC64F-2DFB-4D5C-B4C4-78C771287B38}"/>
              </a:ext>
            </a:extLst>
          </p:cNvPr>
          <p:cNvSpPr>
            <a:spLocks xmlns:a="http://schemas.openxmlformats.org/drawingml/2006/main" noGrp="1"/>
          </p:cNvSpPr>
          <p:nvPr/>
        </p:nvSpPr>
        <p:spPr>
          <a:xfrm xmlns:a="http://schemas.openxmlformats.org/drawingml/2006/main">
            <a:off x="628650" y="20193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@baby_b277</a:t>
            </a:r>
          </a:p>
        </p:txBody>
      </p:sp>
      <p:sp>
        <p:nvSpPr>
          <p:cNvPr id="8" name="">
            <a:extLst xmlns:a="http://schemas.openxmlformats.org/drawingml/2006/main">
              <a:ext uri="{FF2B5EF4-FFF2-40B4-BE49-F238E27FC236}">
                <a16:creationId xmlns:a16="http://schemas.microsoft.com/office/drawing/2014/main" id="{23664D0D-D47F-43AA-B5F7-FAA2842A3F3B}"/>
              </a:ext>
            </a:extLst>
          </p:cNvPr>
          <p:cNvSpPr>
            <a:spLocks xmlns:a="http://schemas.openxmlformats.org/drawingml/2006/main" noGrp="1"/>
          </p:cNvSpPr>
          <p:nvPr/>
        </p:nvSpPr>
        <p:spPr>
          <a:xfrm xmlns:a="http://schemas.openxmlformats.org/drawingml/2006/main">
            <a:off x="647700" y="25146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BB1A708A-4AC6-41DC-97A0-5CDA31FEFE70}"/>
              </a:ext>
            </a:extLst>
          </p:cNvPr>
          <p:cNvSpPr>
            <a:spLocks xmlns:a="http://schemas.openxmlformats.org/drawingml/2006/main" noGrp="1"/>
          </p:cNvSpPr>
          <p:nvPr/>
        </p:nvSpPr>
        <p:spPr>
          <a:xfrm xmlns:a="http://schemas.openxmlformats.org/drawingml/2006/main">
            <a:off x="62865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-61%</a:t>
            </a:r>
          </a:p>
        </p:txBody>
      </p:sp>
      <p:sp>
        <p:nvSpPr>
          <p:cNvPr id="10" name="">
            <a:extLst xmlns:a="http://schemas.openxmlformats.org/drawingml/2006/main">
              <a:ext uri="{FF2B5EF4-FFF2-40B4-BE49-F238E27FC236}">
                <a16:creationId xmlns:a16="http://schemas.microsoft.com/office/drawing/2014/main" id="{64A92BFB-6C02-4BF6-9A1C-E6F127950475}"/>
              </a:ext>
            </a:extLst>
          </p:cNvPr>
          <p:cNvSpPr>
            <a:spLocks xmlns:a="http://schemas.openxmlformats.org/drawingml/2006/main" noGrp="1"/>
          </p:cNvSpPr>
          <p:nvPr/>
        </p:nvSpPr>
        <p:spPr>
          <a:xfrm xmlns:a="http://schemas.openxmlformats.org/drawingml/2006/main">
            <a:off x="647700" y="31242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53,653  |  Oct 1-8: 20,876</a:t>
            </a:r>
          </a:p>
        </p:txBody>
      </p:sp>
      <p:sp>
        <p:nvSpPr>
          <p:cNvPr id="11" name="">
            <a:extLst xmlns:a="http://schemas.openxmlformats.org/drawingml/2006/main">
              <a:ext uri="{FF2B5EF4-FFF2-40B4-BE49-F238E27FC236}">
                <a16:creationId xmlns:a16="http://schemas.microsoft.com/office/drawing/2014/main" id="{97BB0CD0-6F9A-470C-99A4-A7F13FD3439C}"/>
              </a:ext>
            </a:extLst>
          </p:cNvPr>
          <p:cNvSpPr>
            <a:spLocks xmlns:a="http://schemas.openxmlformats.org/drawingml/2006/main" noGrp="1"/>
          </p:cNvSpPr>
          <p:nvPr/>
        </p:nvSpPr>
        <p:spPr>
          <a:xfrm xmlns:a="http://schemas.openxmlformats.org/drawingml/2006/main">
            <a:off x="4000500" y="203835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646D5145-8C6D-4EBF-ABD0-E27BDC5D2D32}"/>
              </a:ext>
            </a:extLst>
          </p:cNvPr>
          <p:cNvSpPr>
            <a:spLocks xmlns:a="http://schemas.openxmlformats.org/drawingml/2006/main" noGrp="1"/>
          </p:cNvSpPr>
          <p:nvPr/>
        </p:nvSpPr>
        <p:spPr>
          <a:xfrm xmlns:a="http://schemas.openxmlformats.org/drawingml/2006/main">
            <a:off x="4000500" y="228600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Matches 23% of Sep 1-8 (30/132)</a:t>
            </a:r>
          </a:p>
          <a:p xmlns:a="http://schemas.openxmlformats.org/drawingml/2006/main">
            <a:pPr>
              <a:defRPr sz="1200" b="0">
                <a:solidFill>
                  <a:srgbClr val="F7F4EC"/>
                </a:solidFill>
              </a:defRPr>
            </a:pPr>
            <a:r>
              <a:rPr sz="1200" b="0">
                <a:solidFill>
                  <a:srgbClr val="F7F4EC"/>
                </a:solidFill>
              </a:rPr>
              <a:t>Streams 32% of Sep 1-8 (12/37)</a:t>
            </a:r>
          </a:p>
        </p:txBody>
      </p:sp>
      <p:sp>
        <p:nvSpPr>
          <p:cNvPr id="13" name="">
            <a:extLst xmlns:a="http://schemas.openxmlformats.org/drawingml/2006/main">
              <a:ext uri="{FF2B5EF4-FFF2-40B4-BE49-F238E27FC236}">
                <a16:creationId xmlns:a16="http://schemas.microsoft.com/office/drawing/2014/main" id="{3CD2364D-9464-473C-9C42-58339A67B963}"/>
              </a:ext>
            </a:extLst>
          </p:cNvPr>
          <p:cNvSpPr>
            <a:spLocks xmlns:a="http://schemas.openxmlformats.org/drawingml/2006/main" noGrp="1"/>
          </p:cNvSpPr>
          <p:nvPr/>
        </p:nvSpPr>
        <p:spPr>
          <a:xfrm xmlns:a="http://schemas.openxmlformats.org/drawingml/2006/main">
            <a:off x="7620000" y="2038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04D8607A-5BCE-43C3-AD39-5A23D4BE1A29}"/>
              </a:ext>
            </a:extLst>
          </p:cNvPr>
          <p:cNvSpPr>
            <a:spLocks xmlns:a="http://schemas.openxmlformats.org/drawingml/2006/main" noGrp="1"/>
          </p:cNvSpPr>
          <p:nvPr/>
        </p:nvSpPr>
        <p:spPr>
          <a:xfrm xmlns:a="http://schemas.openxmlformats.org/drawingml/2006/main">
            <a:off x="7620000" y="228600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38%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12E2511F-EC9E-410F-8C7E-41A2F7E4E31C}"/>
              </a:ext>
            </a:extLst>
          </p:cNvPr>
          <p:cNvSpPr>
            <a:spLocks xmlns:a="http://schemas.openxmlformats.org/drawingml/2006/main" noGrp="1"/>
          </p:cNvSpPr>
          <p:nvPr/>
        </p:nvSpPr>
        <p:spPr>
          <a:xfrm xmlns:a="http://schemas.openxmlformats.org/drawingml/2006/main">
            <a:off x="628650" y="4000500"/>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1B46A937-ABA6-48CC-BAC6-52D545D9C066}"/>
              </a:ext>
            </a:extLst>
          </p:cNvPr>
          <p:cNvSpPr>
            <a:spLocks xmlns:a="http://schemas.openxmlformats.org/drawingml/2006/main" noGrp="1"/>
          </p:cNvSpPr>
          <p:nvPr/>
        </p:nvSpPr>
        <p:spPr>
          <a:xfrm xmlns:a="http://schemas.openxmlformats.org/drawingml/2006/main">
            <a:off x="6286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@hannakingwoodward</a:t>
            </a:r>
          </a:p>
        </p:txBody>
      </p:sp>
      <p:sp>
        <p:nvSpPr>
          <p:cNvPr id="17" name="">
            <a:extLst xmlns:a="http://schemas.openxmlformats.org/drawingml/2006/main">
              <a:ext uri="{FF2B5EF4-FFF2-40B4-BE49-F238E27FC236}">
                <a16:creationId xmlns:a16="http://schemas.microsoft.com/office/drawing/2014/main" id="{CCB18F9B-E3F8-45E3-B482-E28B9BD5BEF1}"/>
              </a:ext>
            </a:extLst>
          </p:cNvPr>
          <p:cNvSpPr>
            <a:spLocks xmlns:a="http://schemas.openxmlformats.org/drawingml/2006/main" noGrp="1"/>
          </p:cNvSpPr>
          <p:nvPr/>
        </p:nvSpPr>
        <p:spPr>
          <a:xfrm xmlns:a="http://schemas.openxmlformats.org/drawingml/2006/main">
            <a:off x="647700" y="470535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4A050FC3-F9F1-48A5-98BD-92153C12CE5E}"/>
              </a:ext>
            </a:extLst>
          </p:cNvPr>
          <p:cNvSpPr>
            <a:spLocks xmlns:a="http://schemas.openxmlformats.org/drawingml/2006/main" noGrp="1"/>
          </p:cNvSpPr>
          <p:nvPr/>
        </p:nvSpPr>
        <p:spPr>
          <a:xfrm xmlns:a="http://schemas.openxmlformats.org/drawingml/2006/main">
            <a:off x="628650" y="48958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-61%</a:t>
            </a:r>
          </a:p>
        </p:txBody>
      </p:sp>
      <p:sp>
        <p:nvSpPr>
          <p:cNvPr id="19" name="">
            <a:extLst xmlns:a="http://schemas.openxmlformats.org/drawingml/2006/main">
              <a:ext uri="{FF2B5EF4-FFF2-40B4-BE49-F238E27FC236}">
                <a16:creationId xmlns:a16="http://schemas.microsoft.com/office/drawing/2014/main" id="{3C3AF86D-EF60-4D59-B699-2C76BFAF9E06}"/>
              </a:ext>
            </a:extLst>
          </p:cNvPr>
          <p:cNvSpPr>
            <a:spLocks xmlns:a="http://schemas.openxmlformats.org/drawingml/2006/main" noGrp="1"/>
          </p:cNvSpPr>
          <p:nvPr/>
        </p:nvSpPr>
        <p:spPr>
          <a:xfrm xmlns:a="http://schemas.openxmlformats.org/drawingml/2006/main">
            <a:off x="647700" y="53149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49,468  |  Oct 1-8: 19,134</a:t>
            </a:r>
          </a:p>
        </p:txBody>
      </p:sp>
      <p:sp>
        <p:nvSpPr>
          <p:cNvPr id="20" name="">
            <a:extLst xmlns:a="http://schemas.openxmlformats.org/drawingml/2006/main">
              <a:ext uri="{FF2B5EF4-FFF2-40B4-BE49-F238E27FC236}">
                <a16:creationId xmlns:a16="http://schemas.microsoft.com/office/drawing/2014/main" id="{1BD68DB7-6723-4A3F-887A-267D93640ADF}"/>
              </a:ext>
            </a:extLst>
          </p:cNvPr>
          <p:cNvSpPr>
            <a:spLocks xmlns:a="http://schemas.openxmlformats.org/drawingml/2006/main" noGrp="1"/>
          </p:cNvSpPr>
          <p:nvPr/>
        </p:nvSpPr>
        <p:spPr>
          <a:xfrm xmlns:a="http://schemas.openxmlformats.org/drawingml/2006/main">
            <a:off x="4000500" y="4229100"/>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61511182-F9A1-4CB0-8303-F973F85ECC48}"/>
              </a:ext>
            </a:extLst>
          </p:cNvPr>
          <p:cNvSpPr>
            <a:spLocks xmlns:a="http://schemas.openxmlformats.org/drawingml/2006/main" noGrp="1"/>
          </p:cNvSpPr>
          <p:nvPr/>
        </p:nvSpPr>
        <p:spPr>
          <a:xfrm xmlns:a="http://schemas.openxmlformats.org/drawingml/2006/main">
            <a:off x="4000500" y="4476750"/>
            <a:ext cx="3190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Diamonds 39% of Sep 1-8 (19.1k/49.5k)</a:t>
            </a:r>
          </a:p>
          <a:p xmlns:a="http://schemas.openxmlformats.org/drawingml/2006/main">
            <a:pPr>
              <a:defRPr sz="1200" b="0">
                <a:solidFill>
                  <a:srgbClr val="F7F4EC"/>
                </a:solidFill>
              </a:defRPr>
            </a:pPr>
            <a:r>
              <a:rPr sz="1200" b="0">
                <a:solidFill>
                  <a:srgbClr val="F7F4EC"/>
                </a:solidFill>
              </a:rPr>
              <a:t>Hours 83% of Sep 1-8 (7h/9h)</a:t>
            </a:r>
          </a:p>
        </p:txBody>
      </p:sp>
      <p:sp>
        <p:nvSpPr>
          <p:cNvPr id="22" name="">
            <a:extLst xmlns:a="http://schemas.openxmlformats.org/drawingml/2006/main">
              <a:ext uri="{FF2B5EF4-FFF2-40B4-BE49-F238E27FC236}">
                <a16:creationId xmlns:a16="http://schemas.microsoft.com/office/drawing/2014/main" id="{A0CAA580-5ADA-4BA5-9129-5A158C5F9F13}"/>
              </a:ext>
            </a:extLst>
          </p:cNvPr>
          <p:cNvSpPr>
            <a:spLocks xmlns:a="http://schemas.openxmlformats.org/drawingml/2006/main" noGrp="1"/>
          </p:cNvSpPr>
          <p:nvPr/>
        </p:nvSpPr>
        <p:spPr>
          <a:xfrm xmlns:a="http://schemas.openxmlformats.org/drawingml/2006/main">
            <a:off x="7620000" y="4229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67CD58E1-21C8-4006-A06A-3D2F717B626B}"/>
              </a:ext>
            </a:extLst>
          </p:cNvPr>
          <p:cNvSpPr>
            <a:spLocks xmlns:a="http://schemas.openxmlformats.org/drawingml/2006/main" noGrp="1"/>
          </p:cNvSpPr>
          <p:nvPr/>
        </p:nvSpPr>
        <p:spPr>
          <a:xfrm xmlns:a="http://schemas.openxmlformats.org/drawingml/2006/main">
            <a:off x="7620000" y="4476750"/>
            <a:ext cx="3810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7F4EC"/>
                </a:solidFill>
              </a:defRPr>
            </a:defPPr>
          </a:lstStyle>
          <a:p xmlns:a="http://schemas.openxmlformats.org/drawingml/2006/main">
            <a:pPr>
              <a:defRPr sz="1050" b="0">
                <a:solidFill>
                  <a:srgbClr val="F7F4EC"/>
                </a:solidFill>
              </a:defRPr>
            </a:pPr>
            <a:r>
              <a:rPr sz="1050" b="0">
                <a:solidFill>
                  <a:srgbClr val="F7F4EC"/>
                </a:solidFill>
              </a:rPr>
              <a:t>Their live hours are down to 83%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050" b="0">
                <a:solidFill>
                  <a:srgbClr val="F7F4EC"/>
                </a:solidFill>
              </a:defRPr>
            </a:pPr>
            <a:r>
              <a:rPr sz="1050" b="0">
                <a:solidFill>
                  <a:srgbClr val="F7F4EC"/>
                </a:solidFill>
              </a:rPr>
              <a:t>Their match activity is down. Set a plan for at least 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455287D3-E98D-4F79-AA33-775C58FB6E56}"/>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33</a:t>
            </a:r>
          </a:p>
        </p:txBody>
      </p:sp>
    </p:spTree>
    <p:extLst>
      <p:ext uri="{BB962C8B-B14F-4D97-AF65-F5344CB8AC3E}">
        <p14:creationId xmlns:p14="http://schemas.microsoft.com/office/powerpoint/2010/main" val="2168240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2026-10-09T13:49:02.5860000Z</dcterms:created>
  <dcterms:modified xsi:type="dcterms:W3CDTF">2026-10-09T13:49:02.5860000Z</dcterms:modified>
</coreProperties>
</file>